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79300" cy="6858000"/>
  <p:notesSz cx="121793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6203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0D1B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6203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6203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37749" y="1885875"/>
            <a:ext cx="4331970" cy="3639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7C6C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746796" y="1885875"/>
            <a:ext cx="4157979" cy="3639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1A83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6203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4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68507" y="526170"/>
            <a:ext cx="6000750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6203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8965" y="1577340"/>
            <a:ext cx="1096137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5353" y="6590002"/>
            <a:ext cx="201358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62485" y="6590002"/>
            <a:ext cx="1473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A93A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25819" y="822102"/>
            <a:ext cx="2375535" cy="2375535"/>
          </a:xfrm>
          <a:custGeom>
            <a:avLst/>
            <a:gdLst/>
            <a:ahLst/>
            <a:cxnLst/>
            <a:rect l="l" t="t" r="r" b="b"/>
            <a:pathLst>
              <a:path w="2375534" h="2375535">
                <a:moveTo>
                  <a:pt x="1187482" y="2374963"/>
                </a:moveTo>
                <a:lnTo>
                  <a:pt x="1139722" y="2374020"/>
                </a:lnTo>
                <a:lnTo>
                  <a:pt x="1092441" y="2371215"/>
                </a:lnTo>
                <a:lnTo>
                  <a:pt x="1045674" y="2366583"/>
                </a:lnTo>
                <a:lnTo>
                  <a:pt x="999456" y="2360160"/>
                </a:lnTo>
                <a:lnTo>
                  <a:pt x="953824" y="2351982"/>
                </a:lnTo>
                <a:lnTo>
                  <a:pt x="908812" y="2342083"/>
                </a:lnTo>
                <a:lnTo>
                  <a:pt x="864457" y="2330499"/>
                </a:lnTo>
                <a:lnTo>
                  <a:pt x="820792" y="2317266"/>
                </a:lnTo>
                <a:lnTo>
                  <a:pt x="777855" y="2302419"/>
                </a:lnTo>
                <a:lnTo>
                  <a:pt x="735681" y="2285994"/>
                </a:lnTo>
                <a:lnTo>
                  <a:pt x="694304" y="2268025"/>
                </a:lnTo>
                <a:lnTo>
                  <a:pt x="653761" y="2248550"/>
                </a:lnTo>
                <a:lnTo>
                  <a:pt x="614086" y="2227602"/>
                </a:lnTo>
                <a:lnTo>
                  <a:pt x="575316" y="2205218"/>
                </a:lnTo>
                <a:lnTo>
                  <a:pt x="537486" y="2181433"/>
                </a:lnTo>
                <a:lnTo>
                  <a:pt x="500631" y="2156283"/>
                </a:lnTo>
                <a:lnTo>
                  <a:pt x="464787" y="2129802"/>
                </a:lnTo>
                <a:lnTo>
                  <a:pt x="429989" y="2102027"/>
                </a:lnTo>
                <a:lnTo>
                  <a:pt x="396273" y="2072992"/>
                </a:lnTo>
                <a:lnTo>
                  <a:pt x="363675" y="2042734"/>
                </a:lnTo>
                <a:lnTo>
                  <a:pt x="332228" y="2011288"/>
                </a:lnTo>
                <a:lnTo>
                  <a:pt x="301970" y="1978690"/>
                </a:lnTo>
                <a:lnTo>
                  <a:pt x="272936" y="1944974"/>
                </a:lnTo>
                <a:lnTo>
                  <a:pt x="245161" y="1910176"/>
                </a:lnTo>
                <a:lnTo>
                  <a:pt x="218680" y="1874332"/>
                </a:lnTo>
                <a:lnTo>
                  <a:pt x="193530" y="1837477"/>
                </a:lnTo>
                <a:lnTo>
                  <a:pt x="169745" y="1799647"/>
                </a:lnTo>
                <a:lnTo>
                  <a:pt x="147360" y="1760877"/>
                </a:lnTo>
                <a:lnTo>
                  <a:pt x="126413" y="1721202"/>
                </a:lnTo>
                <a:lnTo>
                  <a:pt x="106937" y="1680659"/>
                </a:lnTo>
                <a:lnTo>
                  <a:pt x="88969" y="1639282"/>
                </a:lnTo>
                <a:lnTo>
                  <a:pt x="72544" y="1597108"/>
                </a:lnTo>
                <a:lnTo>
                  <a:pt x="57697" y="1554171"/>
                </a:lnTo>
                <a:lnTo>
                  <a:pt x="44464" y="1510507"/>
                </a:lnTo>
                <a:lnTo>
                  <a:pt x="32880" y="1466151"/>
                </a:lnTo>
                <a:lnTo>
                  <a:pt x="22981" y="1421139"/>
                </a:lnTo>
                <a:lnTo>
                  <a:pt x="14802" y="1375507"/>
                </a:lnTo>
                <a:lnTo>
                  <a:pt x="8379" y="1329290"/>
                </a:lnTo>
                <a:lnTo>
                  <a:pt x="3747" y="1282522"/>
                </a:lnTo>
                <a:lnTo>
                  <a:pt x="942" y="1235241"/>
                </a:lnTo>
                <a:lnTo>
                  <a:pt x="0" y="1187481"/>
                </a:lnTo>
                <a:lnTo>
                  <a:pt x="942" y="1139721"/>
                </a:lnTo>
                <a:lnTo>
                  <a:pt x="3747" y="1092440"/>
                </a:lnTo>
                <a:lnTo>
                  <a:pt x="8379" y="1045673"/>
                </a:lnTo>
                <a:lnTo>
                  <a:pt x="14802" y="999456"/>
                </a:lnTo>
                <a:lnTo>
                  <a:pt x="22981" y="953823"/>
                </a:lnTo>
                <a:lnTo>
                  <a:pt x="32880" y="908812"/>
                </a:lnTo>
                <a:lnTo>
                  <a:pt x="44464" y="864456"/>
                </a:lnTo>
                <a:lnTo>
                  <a:pt x="57697" y="820792"/>
                </a:lnTo>
                <a:lnTo>
                  <a:pt x="72544" y="777855"/>
                </a:lnTo>
                <a:lnTo>
                  <a:pt x="88969" y="735680"/>
                </a:lnTo>
                <a:lnTo>
                  <a:pt x="106937" y="694304"/>
                </a:lnTo>
                <a:lnTo>
                  <a:pt x="126413" y="653760"/>
                </a:lnTo>
                <a:lnTo>
                  <a:pt x="147360" y="614086"/>
                </a:lnTo>
                <a:lnTo>
                  <a:pt x="169745" y="575316"/>
                </a:lnTo>
                <a:lnTo>
                  <a:pt x="193530" y="537486"/>
                </a:lnTo>
                <a:lnTo>
                  <a:pt x="218680" y="500631"/>
                </a:lnTo>
                <a:lnTo>
                  <a:pt x="245161" y="464787"/>
                </a:lnTo>
                <a:lnTo>
                  <a:pt x="272936" y="429989"/>
                </a:lnTo>
                <a:lnTo>
                  <a:pt x="301970" y="396273"/>
                </a:lnTo>
                <a:lnTo>
                  <a:pt x="332228" y="363674"/>
                </a:lnTo>
                <a:lnTo>
                  <a:pt x="363675" y="332228"/>
                </a:lnTo>
                <a:lnTo>
                  <a:pt x="396273" y="301970"/>
                </a:lnTo>
                <a:lnTo>
                  <a:pt x="429989" y="272936"/>
                </a:lnTo>
                <a:lnTo>
                  <a:pt x="464787" y="245161"/>
                </a:lnTo>
                <a:lnTo>
                  <a:pt x="500631" y="218680"/>
                </a:lnTo>
                <a:lnTo>
                  <a:pt x="537486" y="193529"/>
                </a:lnTo>
                <a:lnTo>
                  <a:pt x="575316" y="169744"/>
                </a:lnTo>
                <a:lnTo>
                  <a:pt x="614086" y="147360"/>
                </a:lnTo>
                <a:lnTo>
                  <a:pt x="653761" y="126413"/>
                </a:lnTo>
                <a:lnTo>
                  <a:pt x="694304" y="106937"/>
                </a:lnTo>
                <a:lnTo>
                  <a:pt x="735681" y="88969"/>
                </a:lnTo>
                <a:lnTo>
                  <a:pt x="777855" y="72544"/>
                </a:lnTo>
                <a:lnTo>
                  <a:pt x="820792" y="57697"/>
                </a:lnTo>
                <a:lnTo>
                  <a:pt x="864457" y="44464"/>
                </a:lnTo>
                <a:lnTo>
                  <a:pt x="908812" y="32880"/>
                </a:lnTo>
                <a:lnTo>
                  <a:pt x="953824" y="22981"/>
                </a:lnTo>
                <a:lnTo>
                  <a:pt x="999456" y="14802"/>
                </a:lnTo>
                <a:lnTo>
                  <a:pt x="1045674" y="8379"/>
                </a:lnTo>
                <a:lnTo>
                  <a:pt x="1092441" y="3747"/>
                </a:lnTo>
                <a:lnTo>
                  <a:pt x="1139722" y="942"/>
                </a:lnTo>
                <a:lnTo>
                  <a:pt x="1187482" y="0"/>
                </a:lnTo>
                <a:lnTo>
                  <a:pt x="1237092" y="1035"/>
                </a:lnTo>
                <a:lnTo>
                  <a:pt x="1286430" y="4126"/>
                </a:lnTo>
                <a:lnTo>
                  <a:pt x="1335437" y="9248"/>
                </a:lnTo>
                <a:lnTo>
                  <a:pt x="1384056" y="16378"/>
                </a:lnTo>
                <a:lnTo>
                  <a:pt x="1432227" y="25490"/>
                </a:lnTo>
                <a:lnTo>
                  <a:pt x="1479894" y="36562"/>
                </a:lnTo>
                <a:lnTo>
                  <a:pt x="1526998" y="49568"/>
                </a:lnTo>
                <a:lnTo>
                  <a:pt x="1573480" y="64485"/>
                </a:lnTo>
                <a:lnTo>
                  <a:pt x="1619283" y="81289"/>
                </a:lnTo>
                <a:lnTo>
                  <a:pt x="1664348" y="99956"/>
                </a:lnTo>
                <a:lnTo>
                  <a:pt x="1708618" y="120461"/>
                </a:lnTo>
                <a:lnTo>
                  <a:pt x="1752034" y="142781"/>
                </a:lnTo>
                <a:lnTo>
                  <a:pt x="1794538" y="166891"/>
                </a:lnTo>
                <a:lnTo>
                  <a:pt x="1836072" y="192768"/>
                </a:lnTo>
                <a:lnTo>
                  <a:pt x="1876578" y="220387"/>
                </a:lnTo>
                <a:lnTo>
                  <a:pt x="1915997" y="249724"/>
                </a:lnTo>
                <a:lnTo>
                  <a:pt x="1954273" y="280756"/>
                </a:lnTo>
                <a:lnTo>
                  <a:pt x="1991345" y="313457"/>
                </a:lnTo>
                <a:lnTo>
                  <a:pt x="2027158" y="347805"/>
                </a:lnTo>
                <a:lnTo>
                  <a:pt x="2061505" y="383617"/>
                </a:lnTo>
                <a:lnTo>
                  <a:pt x="2094207" y="420690"/>
                </a:lnTo>
                <a:lnTo>
                  <a:pt x="2125238" y="458965"/>
                </a:lnTo>
                <a:lnTo>
                  <a:pt x="2154575" y="498385"/>
                </a:lnTo>
                <a:lnTo>
                  <a:pt x="2182194" y="538891"/>
                </a:lnTo>
                <a:lnTo>
                  <a:pt x="2208071" y="580425"/>
                </a:lnTo>
                <a:lnTo>
                  <a:pt x="2232181" y="622929"/>
                </a:lnTo>
                <a:lnTo>
                  <a:pt x="2254501" y="666345"/>
                </a:lnTo>
                <a:lnTo>
                  <a:pt x="2275007" y="710615"/>
                </a:lnTo>
                <a:lnTo>
                  <a:pt x="2293673" y="755680"/>
                </a:lnTo>
                <a:lnTo>
                  <a:pt x="2310477" y="801483"/>
                </a:lnTo>
                <a:lnTo>
                  <a:pt x="2325394" y="847965"/>
                </a:lnTo>
                <a:lnTo>
                  <a:pt x="2338401" y="895069"/>
                </a:lnTo>
                <a:lnTo>
                  <a:pt x="2349472" y="942735"/>
                </a:lnTo>
                <a:lnTo>
                  <a:pt x="2358585" y="990907"/>
                </a:lnTo>
                <a:lnTo>
                  <a:pt x="2365714" y="1039526"/>
                </a:lnTo>
                <a:lnTo>
                  <a:pt x="2370836" y="1088533"/>
                </a:lnTo>
                <a:lnTo>
                  <a:pt x="2373927" y="1137871"/>
                </a:lnTo>
                <a:lnTo>
                  <a:pt x="2374963" y="1187481"/>
                </a:lnTo>
                <a:lnTo>
                  <a:pt x="2374020" y="1235241"/>
                </a:lnTo>
                <a:lnTo>
                  <a:pt x="2371215" y="1282522"/>
                </a:lnTo>
                <a:lnTo>
                  <a:pt x="2366583" y="1329290"/>
                </a:lnTo>
                <a:lnTo>
                  <a:pt x="2360160" y="1375507"/>
                </a:lnTo>
                <a:lnTo>
                  <a:pt x="2351982" y="1421139"/>
                </a:lnTo>
                <a:lnTo>
                  <a:pt x="2342083" y="1466151"/>
                </a:lnTo>
                <a:lnTo>
                  <a:pt x="2330499" y="1510507"/>
                </a:lnTo>
                <a:lnTo>
                  <a:pt x="2317266" y="1554171"/>
                </a:lnTo>
                <a:lnTo>
                  <a:pt x="2302419" y="1597108"/>
                </a:lnTo>
                <a:lnTo>
                  <a:pt x="2285994" y="1639282"/>
                </a:lnTo>
                <a:lnTo>
                  <a:pt x="2268025" y="1680659"/>
                </a:lnTo>
                <a:lnTo>
                  <a:pt x="2248550" y="1721202"/>
                </a:lnTo>
                <a:lnTo>
                  <a:pt x="2227602" y="1760877"/>
                </a:lnTo>
                <a:lnTo>
                  <a:pt x="2205218" y="1799647"/>
                </a:lnTo>
                <a:lnTo>
                  <a:pt x="2181433" y="1837477"/>
                </a:lnTo>
                <a:lnTo>
                  <a:pt x="2156283" y="1874332"/>
                </a:lnTo>
                <a:lnTo>
                  <a:pt x="2129802" y="1910176"/>
                </a:lnTo>
                <a:lnTo>
                  <a:pt x="2102027" y="1944974"/>
                </a:lnTo>
                <a:lnTo>
                  <a:pt x="2072993" y="1978690"/>
                </a:lnTo>
                <a:lnTo>
                  <a:pt x="2042735" y="2011288"/>
                </a:lnTo>
                <a:lnTo>
                  <a:pt x="2011288" y="2042734"/>
                </a:lnTo>
                <a:lnTo>
                  <a:pt x="1978690" y="2072992"/>
                </a:lnTo>
                <a:lnTo>
                  <a:pt x="1944974" y="2102027"/>
                </a:lnTo>
                <a:lnTo>
                  <a:pt x="1910176" y="2129802"/>
                </a:lnTo>
                <a:lnTo>
                  <a:pt x="1874332" y="2156283"/>
                </a:lnTo>
                <a:lnTo>
                  <a:pt x="1837477" y="2181433"/>
                </a:lnTo>
                <a:lnTo>
                  <a:pt x="1799647" y="2205218"/>
                </a:lnTo>
                <a:lnTo>
                  <a:pt x="1760877" y="2227602"/>
                </a:lnTo>
                <a:lnTo>
                  <a:pt x="1721203" y="2248550"/>
                </a:lnTo>
                <a:lnTo>
                  <a:pt x="1680659" y="2268025"/>
                </a:lnTo>
                <a:lnTo>
                  <a:pt x="1639283" y="2285994"/>
                </a:lnTo>
                <a:lnTo>
                  <a:pt x="1597108" y="2302419"/>
                </a:lnTo>
                <a:lnTo>
                  <a:pt x="1554171" y="2317266"/>
                </a:lnTo>
                <a:lnTo>
                  <a:pt x="1510507" y="2330499"/>
                </a:lnTo>
                <a:lnTo>
                  <a:pt x="1466151" y="2342083"/>
                </a:lnTo>
                <a:lnTo>
                  <a:pt x="1421140" y="2351982"/>
                </a:lnTo>
                <a:lnTo>
                  <a:pt x="1375507" y="2360160"/>
                </a:lnTo>
                <a:lnTo>
                  <a:pt x="1329290" y="2366583"/>
                </a:lnTo>
                <a:lnTo>
                  <a:pt x="1282523" y="2371215"/>
                </a:lnTo>
                <a:lnTo>
                  <a:pt x="1235242" y="2374020"/>
                </a:lnTo>
                <a:lnTo>
                  <a:pt x="1187482" y="2374963"/>
                </a:lnTo>
                <a:close/>
              </a:path>
            </a:pathLst>
          </a:custGeom>
          <a:solidFill>
            <a:srgbClr val="17C6C6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463702" y="2316604"/>
            <a:ext cx="3649979" cy="4551045"/>
            <a:chOff x="8463702" y="2316604"/>
            <a:chExt cx="3649979" cy="4551045"/>
          </a:xfrm>
        </p:grpSpPr>
        <p:sp>
          <p:nvSpPr>
            <p:cNvPr id="4" name="object 4"/>
            <p:cNvSpPr/>
            <p:nvPr/>
          </p:nvSpPr>
          <p:spPr>
            <a:xfrm>
              <a:off x="10321956" y="3288410"/>
              <a:ext cx="1461770" cy="1461770"/>
            </a:xfrm>
            <a:custGeom>
              <a:avLst/>
              <a:gdLst/>
              <a:ahLst/>
              <a:cxnLst/>
              <a:rect l="l" t="t" r="r" b="b"/>
              <a:pathLst>
                <a:path w="1461770" h="1461770">
                  <a:moveTo>
                    <a:pt x="730757" y="1461516"/>
                  </a:moveTo>
                  <a:lnTo>
                    <a:pt x="682709" y="1459961"/>
                  </a:lnTo>
                  <a:lnTo>
                    <a:pt x="635492" y="1455362"/>
                  </a:lnTo>
                  <a:lnTo>
                    <a:pt x="589200" y="1447815"/>
                  </a:lnTo>
                  <a:lnTo>
                    <a:pt x="543931" y="1437416"/>
                  </a:lnTo>
                  <a:lnTo>
                    <a:pt x="499781" y="1424261"/>
                  </a:lnTo>
                  <a:lnTo>
                    <a:pt x="456846" y="1408447"/>
                  </a:lnTo>
                  <a:lnTo>
                    <a:pt x="415222" y="1390069"/>
                  </a:lnTo>
                  <a:lnTo>
                    <a:pt x="375006" y="1369225"/>
                  </a:lnTo>
                  <a:lnTo>
                    <a:pt x="336293" y="1346011"/>
                  </a:lnTo>
                  <a:lnTo>
                    <a:pt x="299181" y="1320522"/>
                  </a:lnTo>
                  <a:lnTo>
                    <a:pt x="263765" y="1292855"/>
                  </a:lnTo>
                  <a:lnTo>
                    <a:pt x="230143" y="1263106"/>
                  </a:lnTo>
                  <a:lnTo>
                    <a:pt x="198409" y="1231372"/>
                  </a:lnTo>
                  <a:lnTo>
                    <a:pt x="168660" y="1197750"/>
                  </a:lnTo>
                  <a:lnTo>
                    <a:pt x="140993" y="1162334"/>
                  </a:lnTo>
                  <a:lnTo>
                    <a:pt x="115504" y="1125222"/>
                  </a:lnTo>
                  <a:lnTo>
                    <a:pt x="92290" y="1086509"/>
                  </a:lnTo>
                  <a:lnTo>
                    <a:pt x="71446" y="1046293"/>
                  </a:lnTo>
                  <a:lnTo>
                    <a:pt x="53068" y="1004669"/>
                  </a:lnTo>
                  <a:lnTo>
                    <a:pt x="37254" y="961734"/>
                  </a:lnTo>
                  <a:lnTo>
                    <a:pt x="24099" y="917583"/>
                  </a:lnTo>
                  <a:lnTo>
                    <a:pt x="13700" y="872314"/>
                  </a:lnTo>
                  <a:lnTo>
                    <a:pt x="6153" y="826023"/>
                  </a:lnTo>
                  <a:lnTo>
                    <a:pt x="1554" y="778805"/>
                  </a:lnTo>
                  <a:lnTo>
                    <a:pt x="0" y="730758"/>
                  </a:lnTo>
                  <a:lnTo>
                    <a:pt x="1554" y="682710"/>
                  </a:lnTo>
                  <a:lnTo>
                    <a:pt x="6153" y="635493"/>
                  </a:lnTo>
                  <a:lnTo>
                    <a:pt x="13700" y="589201"/>
                  </a:lnTo>
                  <a:lnTo>
                    <a:pt x="24099" y="543932"/>
                  </a:lnTo>
                  <a:lnTo>
                    <a:pt x="37254" y="499782"/>
                  </a:lnTo>
                  <a:lnTo>
                    <a:pt x="53068" y="456846"/>
                  </a:lnTo>
                  <a:lnTo>
                    <a:pt x="71446" y="415222"/>
                  </a:lnTo>
                  <a:lnTo>
                    <a:pt x="92290" y="375006"/>
                  </a:lnTo>
                  <a:lnTo>
                    <a:pt x="115504" y="336294"/>
                  </a:lnTo>
                  <a:lnTo>
                    <a:pt x="140993" y="299181"/>
                  </a:lnTo>
                  <a:lnTo>
                    <a:pt x="168660" y="263766"/>
                  </a:lnTo>
                  <a:lnTo>
                    <a:pt x="198409" y="230143"/>
                  </a:lnTo>
                  <a:lnTo>
                    <a:pt x="230143" y="198409"/>
                  </a:lnTo>
                  <a:lnTo>
                    <a:pt x="263765" y="168660"/>
                  </a:lnTo>
                  <a:lnTo>
                    <a:pt x="299181" y="140993"/>
                  </a:lnTo>
                  <a:lnTo>
                    <a:pt x="336293" y="115505"/>
                  </a:lnTo>
                  <a:lnTo>
                    <a:pt x="375006" y="92290"/>
                  </a:lnTo>
                  <a:lnTo>
                    <a:pt x="415222" y="71446"/>
                  </a:lnTo>
                  <a:lnTo>
                    <a:pt x="456846" y="53068"/>
                  </a:lnTo>
                  <a:lnTo>
                    <a:pt x="499781" y="37254"/>
                  </a:lnTo>
                  <a:lnTo>
                    <a:pt x="543931" y="24099"/>
                  </a:lnTo>
                  <a:lnTo>
                    <a:pt x="589200" y="13700"/>
                  </a:lnTo>
                  <a:lnTo>
                    <a:pt x="635492" y="6153"/>
                  </a:lnTo>
                  <a:lnTo>
                    <a:pt x="682709" y="1554"/>
                  </a:lnTo>
                  <a:lnTo>
                    <a:pt x="730757" y="0"/>
                  </a:lnTo>
                  <a:lnTo>
                    <a:pt x="779020" y="1594"/>
                  </a:lnTo>
                  <a:lnTo>
                    <a:pt x="826811" y="6337"/>
                  </a:lnTo>
                  <a:lnTo>
                    <a:pt x="873987" y="14171"/>
                  </a:lnTo>
                  <a:lnTo>
                    <a:pt x="920406" y="25036"/>
                  </a:lnTo>
                  <a:lnTo>
                    <a:pt x="965926" y="38873"/>
                  </a:lnTo>
                  <a:lnTo>
                    <a:pt x="1010406" y="55625"/>
                  </a:lnTo>
                  <a:lnTo>
                    <a:pt x="1053704" y="75232"/>
                  </a:lnTo>
                  <a:lnTo>
                    <a:pt x="1095676" y="97635"/>
                  </a:lnTo>
                  <a:lnTo>
                    <a:pt x="1136182" y="122776"/>
                  </a:lnTo>
                  <a:lnTo>
                    <a:pt x="1175080" y="150595"/>
                  </a:lnTo>
                  <a:lnTo>
                    <a:pt x="1212227" y="181034"/>
                  </a:lnTo>
                  <a:lnTo>
                    <a:pt x="1247482" y="214034"/>
                  </a:lnTo>
                  <a:lnTo>
                    <a:pt x="1280481" y="249288"/>
                  </a:lnTo>
                  <a:lnTo>
                    <a:pt x="1310920" y="286435"/>
                  </a:lnTo>
                  <a:lnTo>
                    <a:pt x="1338739" y="325333"/>
                  </a:lnTo>
                  <a:lnTo>
                    <a:pt x="1363880" y="365839"/>
                  </a:lnTo>
                  <a:lnTo>
                    <a:pt x="1386283" y="407812"/>
                  </a:lnTo>
                  <a:lnTo>
                    <a:pt x="1405890" y="451109"/>
                  </a:lnTo>
                  <a:lnTo>
                    <a:pt x="1422641" y="495589"/>
                  </a:lnTo>
                  <a:lnTo>
                    <a:pt x="1436479" y="541109"/>
                  </a:lnTo>
                  <a:lnTo>
                    <a:pt x="1447344" y="587528"/>
                  </a:lnTo>
                  <a:lnTo>
                    <a:pt x="1455178" y="634704"/>
                  </a:lnTo>
                  <a:lnTo>
                    <a:pt x="1459921" y="682495"/>
                  </a:lnTo>
                  <a:lnTo>
                    <a:pt x="1461515" y="730758"/>
                  </a:lnTo>
                  <a:lnTo>
                    <a:pt x="1459961" y="778805"/>
                  </a:lnTo>
                  <a:lnTo>
                    <a:pt x="1455362" y="826023"/>
                  </a:lnTo>
                  <a:lnTo>
                    <a:pt x="1447815" y="872314"/>
                  </a:lnTo>
                  <a:lnTo>
                    <a:pt x="1437416" y="917583"/>
                  </a:lnTo>
                  <a:lnTo>
                    <a:pt x="1424261" y="961734"/>
                  </a:lnTo>
                  <a:lnTo>
                    <a:pt x="1408447" y="1004669"/>
                  </a:lnTo>
                  <a:lnTo>
                    <a:pt x="1390069" y="1046293"/>
                  </a:lnTo>
                  <a:lnTo>
                    <a:pt x="1369225" y="1086509"/>
                  </a:lnTo>
                  <a:lnTo>
                    <a:pt x="1346011" y="1125222"/>
                  </a:lnTo>
                  <a:lnTo>
                    <a:pt x="1320522" y="1162334"/>
                  </a:lnTo>
                  <a:lnTo>
                    <a:pt x="1292855" y="1197750"/>
                  </a:lnTo>
                  <a:lnTo>
                    <a:pt x="1263106" y="1231372"/>
                  </a:lnTo>
                  <a:lnTo>
                    <a:pt x="1231372" y="1263106"/>
                  </a:lnTo>
                  <a:lnTo>
                    <a:pt x="1197749" y="1292855"/>
                  </a:lnTo>
                  <a:lnTo>
                    <a:pt x="1162334" y="1320522"/>
                  </a:lnTo>
                  <a:lnTo>
                    <a:pt x="1125221" y="1346011"/>
                  </a:lnTo>
                  <a:lnTo>
                    <a:pt x="1086509" y="1369225"/>
                  </a:lnTo>
                  <a:lnTo>
                    <a:pt x="1046293" y="1390069"/>
                  </a:lnTo>
                  <a:lnTo>
                    <a:pt x="1004669" y="1408447"/>
                  </a:lnTo>
                  <a:lnTo>
                    <a:pt x="961733" y="1424261"/>
                  </a:lnTo>
                  <a:lnTo>
                    <a:pt x="917583" y="1437416"/>
                  </a:lnTo>
                  <a:lnTo>
                    <a:pt x="872314" y="1447815"/>
                  </a:lnTo>
                  <a:lnTo>
                    <a:pt x="826022" y="1455362"/>
                  </a:lnTo>
                  <a:lnTo>
                    <a:pt x="778805" y="1459961"/>
                  </a:lnTo>
                  <a:lnTo>
                    <a:pt x="730757" y="1461516"/>
                  </a:lnTo>
                  <a:close/>
                </a:path>
              </a:pathLst>
            </a:custGeom>
            <a:solidFill>
              <a:srgbClr val="F1A83B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73217" y="4429544"/>
              <a:ext cx="3630929" cy="2428875"/>
            </a:xfrm>
            <a:custGeom>
              <a:avLst/>
              <a:gdLst/>
              <a:ahLst/>
              <a:cxnLst/>
              <a:rect l="l" t="t" r="r" b="b"/>
              <a:pathLst>
                <a:path w="3630929" h="2428875">
                  <a:moveTo>
                    <a:pt x="3110625" y="2428455"/>
                  </a:moveTo>
                  <a:lnTo>
                    <a:pt x="0" y="2428455"/>
                  </a:lnTo>
                  <a:lnTo>
                    <a:pt x="883885" y="0"/>
                  </a:lnTo>
                  <a:lnTo>
                    <a:pt x="3630637" y="999735"/>
                  </a:lnTo>
                  <a:lnTo>
                    <a:pt x="3110625" y="2428455"/>
                  </a:lnTo>
                  <a:close/>
                </a:path>
              </a:pathLst>
            </a:custGeom>
            <a:solidFill>
              <a:srgbClr val="17C6C6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73217" y="4429544"/>
              <a:ext cx="3630929" cy="2428875"/>
            </a:xfrm>
            <a:custGeom>
              <a:avLst/>
              <a:gdLst/>
              <a:ahLst/>
              <a:cxnLst/>
              <a:rect l="l" t="t" r="r" b="b"/>
              <a:pathLst>
                <a:path w="3630929" h="2428875">
                  <a:moveTo>
                    <a:pt x="0" y="2428455"/>
                  </a:moveTo>
                  <a:lnTo>
                    <a:pt x="883885" y="0"/>
                  </a:lnTo>
                  <a:lnTo>
                    <a:pt x="3630637" y="999735"/>
                  </a:lnTo>
                  <a:lnTo>
                    <a:pt x="3110625" y="2428455"/>
                  </a:lnTo>
                </a:path>
              </a:pathLst>
            </a:custGeom>
            <a:ln w="19030">
              <a:solidFill>
                <a:srgbClr val="17C6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271492" y="2329291"/>
              <a:ext cx="1918335" cy="1461770"/>
            </a:xfrm>
            <a:custGeom>
              <a:avLst/>
              <a:gdLst/>
              <a:ahLst/>
              <a:cxnLst/>
              <a:rect l="l" t="t" r="r" b="b"/>
              <a:pathLst>
                <a:path w="1918334" h="1461770">
                  <a:moveTo>
                    <a:pt x="1845163" y="1461516"/>
                  </a:moveTo>
                  <a:lnTo>
                    <a:pt x="73075" y="1461516"/>
                  </a:lnTo>
                  <a:lnTo>
                    <a:pt x="44630" y="1455773"/>
                  </a:lnTo>
                  <a:lnTo>
                    <a:pt x="21403" y="1440112"/>
                  </a:lnTo>
                  <a:lnTo>
                    <a:pt x="5742" y="1416884"/>
                  </a:lnTo>
                  <a:lnTo>
                    <a:pt x="0" y="1388440"/>
                  </a:lnTo>
                  <a:lnTo>
                    <a:pt x="0" y="73075"/>
                  </a:lnTo>
                  <a:lnTo>
                    <a:pt x="5742" y="44631"/>
                  </a:lnTo>
                  <a:lnTo>
                    <a:pt x="21403" y="21403"/>
                  </a:lnTo>
                  <a:lnTo>
                    <a:pt x="44630" y="5742"/>
                  </a:lnTo>
                  <a:lnTo>
                    <a:pt x="73075" y="0"/>
                  </a:lnTo>
                  <a:lnTo>
                    <a:pt x="1845163" y="0"/>
                  </a:lnTo>
                  <a:lnTo>
                    <a:pt x="1885706" y="12277"/>
                  </a:lnTo>
                  <a:lnTo>
                    <a:pt x="1912676" y="45111"/>
                  </a:lnTo>
                  <a:lnTo>
                    <a:pt x="1918239" y="73075"/>
                  </a:lnTo>
                  <a:lnTo>
                    <a:pt x="1918239" y="1388440"/>
                  </a:lnTo>
                  <a:lnTo>
                    <a:pt x="1912496" y="1416884"/>
                  </a:lnTo>
                  <a:lnTo>
                    <a:pt x="1896835" y="1440112"/>
                  </a:lnTo>
                  <a:lnTo>
                    <a:pt x="1873607" y="1455773"/>
                  </a:lnTo>
                  <a:lnTo>
                    <a:pt x="1845163" y="1461516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271492" y="2329291"/>
              <a:ext cx="1918335" cy="1461770"/>
            </a:xfrm>
            <a:custGeom>
              <a:avLst/>
              <a:gdLst/>
              <a:ahLst/>
              <a:cxnLst/>
              <a:rect l="l" t="t" r="r" b="b"/>
              <a:pathLst>
                <a:path w="1918334" h="1461770">
                  <a:moveTo>
                    <a:pt x="0" y="73075"/>
                  </a:moveTo>
                  <a:lnTo>
                    <a:pt x="5742" y="44631"/>
                  </a:lnTo>
                  <a:lnTo>
                    <a:pt x="21403" y="21403"/>
                  </a:lnTo>
                  <a:lnTo>
                    <a:pt x="44630" y="5742"/>
                  </a:lnTo>
                  <a:lnTo>
                    <a:pt x="73075" y="0"/>
                  </a:lnTo>
                  <a:lnTo>
                    <a:pt x="1845163" y="0"/>
                  </a:lnTo>
                  <a:lnTo>
                    <a:pt x="1885706" y="12277"/>
                  </a:lnTo>
                  <a:lnTo>
                    <a:pt x="1912676" y="45111"/>
                  </a:lnTo>
                  <a:lnTo>
                    <a:pt x="1918239" y="73075"/>
                  </a:lnTo>
                  <a:lnTo>
                    <a:pt x="1918239" y="1388440"/>
                  </a:lnTo>
                  <a:lnTo>
                    <a:pt x="1912496" y="1416884"/>
                  </a:lnTo>
                  <a:lnTo>
                    <a:pt x="1896835" y="1440112"/>
                  </a:lnTo>
                  <a:lnTo>
                    <a:pt x="1873607" y="1455773"/>
                  </a:lnTo>
                  <a:lnTo>
                    <a:pt x="1845163" y="1461516"/>
                  </a:lnTo>
                  <a:lnTo>
                    <a:pt x="73075" y="1461516"/>
                  </a:lnTo>
                  <a:lnTo>
                    <a:pt x="44630" y="1455773"/>
                  </a:lnTo>
                  <a:lnTo>
                    <a:pt x="21403" y="1440112"/>
                  </a:lnTo>
                  <a:lnTo>
                    <a:pt x="5742" y="1416884"/>
                  </a:lnTo>
                  <a:lnTo>
                    <a:pt x="0" y="1388440"/>
                  </a:lnTo>
                  <a:lnTo>
                    <a:pt x="0" y="73075"/>
                  </a:lnTo>
                  <a:close/>
                </a:path>
              </a:pathLst>
            </a:custGeom>
            <a:ln w="25373">
              <a:solidFill>
                <a:srgbClr val="17C6C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883501" y="2712939"/>
              <a:ext cx="694690" cy="694690"/>
            </a:xfrm>
            <a:custGeom>
              <a:avLst/>
              <a:gdLst/>
              <a:ahLst/>
              <a:cxnLst/>
              <a:rect l="l" t="t" r="r" b="b"/>
              <a:pathLst>
                <a:path w="694690" h="694689">
                  <a:moveTo>
                    <a:pt x="347110" y="694220"/>
                  </a:moveTo>
                  <a:lnTo>
                    <a:pt x="300009" y="691051"/>
                  </a:lnTo>
                  <a:lnTo>
                    <a:pt x="254834" y="681821"/>
                  </a:lnTo>
                  <a:lnTo>
                    <a:pt x="211999" y="666942"/>
                  </a:lnTo>
                  <a:lnTo>
                    <a:pt x="171917" y="646829"/>
                  </a:lnTo>
                  <a:lnTo>
                    <a:pt x="135001" y="621895"/>
                  </a:lnTo>
                  <a:lnTo>
                    <a:pt x="101666" y="592554"/>
                  </a:lnTo>
                  <a:lnTo>
                    <a:pt x="72324" y="559218"/>
                  </a:lnTo>
                  <a:lnTo>
                    <a:pt x="47390" y="522303"/>
                  </a:lnTo>
                  <a:lnTo>
                    <a:pt x="27277" y="482221"/>
                  </a:lnTo>
                  <a:lnTo>
                    <a:pt x="12399" y="439385"/>
                  </a:lnTo>
                  <a:lnTo>
                    <a:pt x="3168" y="394210"/>
                  </a:lnTo>
                  <a:lnTo>
                    <a:pt x="0" y="347110"/>
                  </a:lnTo>
                  <a:lnTo>
                    <a:pt x="3168" y="300009"/>
                  </a:lnTo>
                  <a:lnTo>
                    <a:pt x="12399" y="254834"/>
                  </a:lnTo>
                  <a:lnTo>
                    <a:pt x="27277" y="211999"/>
                  </a:lnTo>
                  <a:lnTo>
                    <a:pt x="47390" y="171916"/>
                  </a:lnTo>
                  <a:lnTo>
                    <a:pt x="72324" y="135001"/>
                  </a:lnTo>
                  <a:lnTo>
                    <a:pt x="101666" y="101666"/>
                  </a:lnTo>
                  <a:lnTo>
                    <a:pt x="135001" y="72324"/>
                  </a:lnTo>
                  <a:lnTo>
                    <a:pt x="171917" y="47390"/>
                  </a:lnTo>
                  <a:lnTo>
                    <a:pt x="211999" y="27277"/>
                  </a:lnTo>
                  <a:lnTo>
                    <a:pt x="254834" y="12399"/>
                  </a:lnTo>
                  <a:lnTo>
                    <a:pt x="300009" y="3168"/>
                  </a:lnTo>
                  <a:lnTo>
                    <a:pt x="347110" y="0"/>
                  </a:lnTo>
                  <a:lnTo>
                    <a:pt x="392735" y="3010"/>
                  </a:lnTo>
                  <a:lnTo>
                    <a:pt x="437193" y="11892"/>
                  </a:lnTo>
                  <a:lnTo>
                    <a:pt x="479943" y="26422"/>
                  </a:lnTo>
                  <a:lnTo>
                    <a:pt x="520446" y="46376"/>
                  </a:lnTo>
                  <a:lnTo>
                    <a:pt x="558163" y="71532"/>
                  </a:lnTo>
                  <a:lnTo>
                    <a:pt x="592554" y="101666"/>
                  </a:lnTo>
                  <a:lnTo>
                    <a:pt x="622687" y="136056"/>
                  </a:lnTo>
                  <a:lnTo>
                    <a:pt x="647843" y="173773"/>
                  </a:lnTo>
                  <a:lnTo>
                    <a:pt x="667798" y="214276"/>
                  </a:lnTo>
                  <a:lnTo>
                    <a:pt x="682328" y="257027"/>
                  </a:lnTo>
                  <a:lnTo>
                    <a:pt x="691210" y="301484"/>
                  </a:lnTo>
                  <a:lnTo>
                    <a:pt x="694220" y="347110"/>
                  </a:lnTo>
                  <a:lnTo>
                    <a:pt x="691051" y="394210"/>
                  </a:lnTo>
                  <a:lnTo>
                    <a:pt x="681821" y="439385"/>
                  </a:lnTo>
                  <a:lnTo>
                    <a:pt x="666942" y="482221"/>
                  </a:lnTo>
                  <a:lnTo>
                    <a:pt x="646829" y="522303"/>
                  </a:lnTo>
                  <a:lnTo>
                    <a:pt x="621895" y="559218"/>
                  </a:lnTo>
                  <a:lnTo>
                    <a:pt x="592554" y="592554"/>
                  </a:lnTo>
                  <a:lnTo>
                    <a:pt x="559218" y="621895"/>
                  </a:lnTo>
                  <a:lnTo>
                    <a:pt x="522303" y="646829"/>
                  </a:lnTo>
                  <a:lnTo>
                    <a:pt x="482221" y="666942"/>
                  </a:lnTo>
                  <a:lnTo>
                    <a:pt x="439385" y="681821"/>
                  </a:lnTo>
                  <a:lnTo>
                    <a:pt x="394210" y="691051"/>
                  </a:lnTo>
                  <a:lnTo>
                    <a:pt x="347110" y="694220"/>
                  </a:lnTo>
                  <a:close/>
                </a:path>
              </a:pathLst>
            </a:custGeom>
            <a:solidFill>
              <a:srgbClr val="0D1B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883501" y="2712939"/>
              <a:ext cx="694690" cy="694690"/>
            </a:xfrm>
            <a:custGeom>
              <a:avLst/>
              <a:gdLst/>
              <a:ahLst/>
              <a:cxnLst/>
              <a:rect l="l" t="t" r="r" b="b"/>
              <a:pathLst>
                <a:path w="694690" h="694689">
                  <a:moveTo>
                    <a:pt x="0" y="347110"/>
                  </a:moveTo>
                  <a:lnTo>
                    <a:pt x="3168" y="300009"/>
                  </a:lnTo>
                  <a:lnTo>
                    <a:pt x="12399" y="254834"/>
                  </a:lnTo>
                  <a:lnTo>
                    <a:pt x="27277" y="211999"/>
                  </a:lnTo>
                  <a:lnTo>
                    <a:pt x="47390" y="171916"/>
                  </a:lnTo>
                  <a:lnTo>
                    <a:pt x="72324" y="135001"/>
                  </a:lnTo>
                  <a:lnTo>
                    <a:pt x="101666" y="101666"/>
                  </a:lnTo>
                  <a:lnTo>
                    <a:pt x="135001" y="72324"/>
                  </a:lnTo>
                  <a:lnTo>
                    <a:pt x="171917" y="47390"/>
                  </a:lnTo>
                  <a:lnTo>
                    <a:pt x="211999" y="27277"/>
                  </a:lnTo>
                  <a:lnTo>
                    <a:pt x="254834" y="12399"/>
                  </a:lnTo>
                  <a:lnTo>
                    <a:pt x="300009" y="3168"/>
                  </a:lnTo>
                  <a:lnTo>
                    <a:pt x="347110" y="0"/>
                  </a:lnTo>
                  <a:lnTo>
                    <a:pt x="392735" y="3010"/>
                  </a:lnTo>
                  <a:lnTo>
                    <a:pt x="437193" y="11892"/>
                  </a:lnTo>
                  <a:lnTo>
                    <a:pt x="479943" y="26422"/>
                  </a:lnTo>
                  <a:lnTo>
                    <a:pt x="520446" y="46376"/>
                  </a:lnTo>
                  <a:lnTo>
                    <a:pt x="558163" y="71532"/>
                  </a:lnTo>
                  <a:lnTo>
                    <a:pt x="592554" y="101666"/>
                  </a:lnTo>
                  <a:lnTo>
                    <a:pt x="622687" y="136056"/>
                  </a:lnTo>
                  <a:lnTo>
                    <a:pt x="647843" y="173773"/>
                  </a:lnTo>
                  <a:lnTo>
                    <a:pt x="667798" y="214276"/>
                  </a:lnTo>
                  <a:lnTo>
                    <a:pt x="682328" y="257027"/>
                  </a:lnTo>
                  <a:lnTo>
                    <a:pt x="691210" y="301484"/>
                  </a:lnTo>
                  <a:lnTo>
                    <a:pt x="694220" y="347110"/>
                  </a:lnTo>
                  <a:lnTo>
                    <a:pt x="691051" y="394210"/>
                  </a:lnTo>
                  <a:lnTo>
                    <a:pt x="681821" y="439385"/>
                  </a:lnTo>
                  <a:lnTo>
                    <a:pt x="666942" y="482221"/>
                  </a:lnTo>
                  <a:lnTo>
                    <a:pt x="646829" y="522303"/>
                  </a:lnTo>
                  <a:lnTo>
                    <a:pt x="621895" y="559218"/>
                  </a:lnTo>
                  <a:lnTo>
                    <a:pt x="592554" y="592554"/>
                  </a:lnTo>
                  <a:lnTo>
                    <a:pt x="559218" y="621895"/>
                  </a:lnTo>
                  <a:lnTo>
                    <a:pt x="522303" y="646829"/>
                  </a:lnTo>
                  <a:lnTo>
                    <a:pt x="482221" y="666942"/>
                  </a:lnTo>
                  <a:lnTo>
                    <a:pt x="439385" y="681821"/>
                  </a:lnTo>
                  <a:lnTo>
                    <a:pt x="394210" y="691051"/>
                  </a:lnTo>
                  <a:lnTo>
                    <a:pt x="347110" y="694220"/>
                  </a:lnTo>
                  <a:lnTo>
                    <a:pt x="300009" y="691051"/>
                  </a:lnTo>
                  <a:lnTo>
                    <a:pt x="254834" y="681821"/>
                  </a:lnTo>
                  <a:lnTo>
                    <a:pt x="211999" y="666942"/>
                  </a:lnTo>
                  <a:lnTo>
                    <a:pt x="171917" y="646829"/>
                  </a:lnTo>
                  <a:lnTo>
                    <a:pt x="135001" y="621895"/>
                  </a:lnTo>
                  <a:lnTo>
                    <a:pt x="101666" y="592554"/>
                  </a:lnTo>
                  <a:lnTo>
                    <a:pt x="72324" y="559218"/>
                  </a:lnTo>
                  <a:lnTo>
                    <a:pt x="47390" y="522303"/>
                  </a:lnTo>
                  <a:lnTo>
                    <a:pt x="27277" y="482221"/>
                  </a:lnTo>
                  <a:lnTo>
                    <a:pt x="12399" y="439385"/>
                  </a:lnTo>
                  <a:lnTo>
                    <a:pt x="3168" y="394210"/>
                  </a:lnTo>
                  <a:lnTo>
                    <a:pt x="0" y="347110"/>
                  </a:lnTo>
                  <a:close/>
                </a:path>
              </a:pathLst>
            </a:custGeom>
            <a:ln w="31716">
              <a:solidFill>
                <a:srgbClr val="F1A8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084460" y="2913897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151" y="292303"/>
                  </a:moveTo>
                  <a:lnTo>
                    <a:pt x="99956" y="284852"/>
                  </a:lnTo>
                  <a:lnTo>
                    <a:pt x="59836" y="264104"/>
                  </a:lnTo>
                  <a:lnTo>
                    <a:pt x="28198" y="232466"/>
                  </a:lnTo>
                  <a:lnTo>
                    <a:pt x="7450" y="192346"/>
                  </a:lnTo>
                  <a:lnTo>
                    <a:pt x="0" y="146151"/>
                  </a:lnTo>
                  <a:lnTo>
                    <a:pt x="7450" y="99956"/>
                  </a:lnTo>
                  <a:lnTo>
                    <a:pt x="28198" y="59836"/>
                  </a:lnTo>
                  <a:lnTo>
                    <a:pt x="59836" y="28198"/>
                  </a:lnTo>
                  <a:lnTo>
                    <a:pt x="99956" y="7450"/>
                  </a:lnTo>
                  <a:lnTo>
                    <a:pt x="146151" y="0"/>
                  </a:lnTo>
                  <a:lnTo>
                    <a:pt x="174797" y="2834"/>
                  </a:lnTo>
                  <a:lnTo>
                    <a:pt x="227236" y="24555"/>
                  </a:lnTo>
                  <a:lnTo>
                    <a:pt x="267748" y="65066"/>
                  </a:lnTo>
                  <a:lnTo>
                    <a:pt x="289469" y="117505"/>
                  </a:lnTo>
                  <a:lnTo>
                    <a:pt x="292303" y="146151"/>
                  </a:lnTo>
                  <a:lnTo>
                    <a:pt x="284852" y="192346"/>
                  </a:lnTo>
                  <a:lnTo>
                    <a:pt x="264104" y="232466"/>
                  </a:lnTo>
                  <a:lnTo>
                    <a:pt x="232467" y="264104"/>
                  </a:lnTo>
                  <a:lnTo>
                    <a:pt x="192346" y="284852"/>
                  </a:lnTo>
                  <a:lnTo>
                    <a:pt x="146151" y="292303"/>
                  </a:lnTo>
                  <a:close/>
                </a:path>
              </a:pathLst>
            </a:custGeom>
            <a:solidFill>
              <a:srgbClr val="17C6C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18042" y="2043191"/>
            <a:ext cx="18700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7C6C6"/>
                </a:solidFill>
                <a:latin typeface="Calibri"/>
                <a:cs typeface="Calibri"/>
              </a:rPr>
              <a:t>AUGMENTED</a:t>
            </a:r>
            <a:r>
              <a:rPr dirty="0" sz="1600" spc="-35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7C6C6"/>
                </a:solidFill>
                <a:latin typeface="Calibri"/>
                <a:cs typeface="Calibri"/>
              </a:rPr>
              <a:t>REALITY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18042" y="2706392"/>
            <a:ext cx="740283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Vision</a:t>
            </a:r>
            <a:r>
              <a:rPr dirty="0" sz="4000" spc="-120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Meets</a:t>
            </a:r>
            <a:r>
              <a:rPr dirty="0" sz="4000" spc="-114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Graphics</a:t>
            </a:r>
            <a:r>
              <a:rPr dirty="0" sz="4000" spc="-114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in</a:t>
            </a:r>
            <a:r>
              <a:rPr dirty="0" sz="4000" spc="-114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Real</a:t>
            </a:r>
            <a:r>
              <a:rPr dirty="0" sz="4000" spc="-120">
                <a:solidFill>
                  <a:srgbClr val="FFFFFF"/>
                </a:solidFill>
              </a:rPr>
              <a:t> </a:t>
            </a:r>
            <a:r>
              <a:rPr dirty="0" sz="4000" spc="-20">
                <a:solidFill>
                  <a:srgbClr val="FFFFFF"/>
                </a:solidFill>
              </a:rPr>
              <a:t>Time</a:t>
            </a:r>
            <a:endParaRPr sz="4000"/>
          </a:p>
        </p:txBody>
      </p:sp>
      <p:sp>
        <p:nvSpPr>
          <p:cNvPr id="14" name="object 14"/>
          <p:cNvSpPr txBox="1"/>
          <p:nvPr/>
        </p:nvSpPr>
        <p:spPr>
          <a:xfrm>
            <a:off x="718042" y="3608738"/>
            <a:ext cx="501332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0" i="1">
                <a:solidFill>
                  <a:srgbClr val="C8D3E3"/>
                </a:solidFill>
                <a:latin typeface="Calibri"/>
                <a:cs typeface="Calibri"/>
              </a:rPr>
              <a:t>Graphics</a:t>
            </a:r>
            <a:r>
              <a:rPr dirty="0" sz="150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C8D3E3"/>
                </a:solidFill>
                <a:latin typeface="Calibri"/>
                <a:cs typeface="Calibri"/>
              </a:rPr>
              <a:t>vs.</a:t>
            </a:r>
            <a:r>
              <a:rPr dirty="0" sz="1500" spc="-25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C8D3E3"/>
                </a:solidFill>
                <a:latin typeface="Calibri"/>
                <a:cs typeface="Calibri"/>
              </a:rPr>
              <a:t>Vision</a:t>
            </a:r>
            <a:r>
              <a:rPr dirty="0" sz="1500" spc="29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C8D3E3"/>
                </a:solidFill>
                <a:latin typeface="Calibri"/>
                <a:cs typeface="Calibri"/>
              </a:rPr>
              <a:t>•</a:t>
            </a:r>
            <a:r>
              <a:rPr dirty="0" sz="1500" spc="285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C8D3E3"/>
                </a:solidFill>
                <a:latin typeface="Calibri"/>
                <a:cs typeface="Calibri"/>
              </a:rPr>
              <a:t>Camera</a:t>
            </a:r>
            <a:r>
              <a:rPr dirty="0" sz="1500" spc="-25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C8D3E3"/>
                </a:solidFill>
                <a:latin typeface="Calibri"/>
                <a:cs typeface="Calibri"/>
              </a:rPr>
              <a:t>Modeling</a:t>
            </a:r>
            <a:r>
              <a:rPr dirty="0" sz="1500" spc="285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500" i="1">
                <a:solidFill>
                  <a:srgbClr val="C8D3E3"/>
                </a:solidFill>
                <a:latin typeface="Calibri"/>
                <a:cs typeface="Calibri"/>
              </a:rPr>
              <a:t>•</a:t>
            </a:r>
            <a:r>
              <a:rPr dirty="0" sz="1500" spc="29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500" spc="-20" i="1">
                <a:solidFill>
                  <a:srgbClr val="C8D3E3"/>
                </a:solidFill>
                <a:latin typeface="Calibri"/>
                <a:cs typeface="Calibri"/>
              </a:rPr>
              <a:t>Real-</a:t>
            </a:r>
            <a:r>
              <a:rPr dirty="0" sz="1500" i="1">
                <a:solidFill>
                  <a:srgbClr val="C8D3E3"/>
                </a:solidFill>
                <a:latin typeface="Calibri"/>
                <a:cs typeface="Calibri"/>
              </a:rPr>
              <a:t>Time</a:t>
            </a:r>
            <a:r>
              <a:rPr dirty="0" sz="1500" spc="-25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500" spc="-10" i="1">
                <a:solidFill>
                  <a:srgbClr val="C8D3E3"/>
                </a:solidFill>
                <a:latin typeface="Calibri"/>
                <a:cs typeface="Calibri"/>
              </a:rPr>
              <a:t>Challenges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3069" y="4697911"/>
            <a:ext cx="7503159" cy="1611630"/>
            <a:chOff x="633069" y="4697911"/>
            <a:chExt cx="7503159" cy="1611630"/>
          </a:xfrm>
        </p:grpSpPr>
        <p:sp>
          <p:nvSpPr>
            <p:cNvPr id="16" name="object 16"/>
            <p:cNvSpPr/>
            <p:nvPr/>
          </p:nvSpPr>
          <p:spPr>
            <a:xfrm>
              <a:off x="639413" y="4704254"/>
              <a:ext cx="7490459" cy="1598930"/>
            </a:xfrm>
            <a:custGeom>
              <a:avLst/>
              <a:gdLst/>
              <a:ahLst/>
              <a:cxnLst/>
              <a:rect l="l" t="t" r="r" b="b"/>
              <a:pathLst>
                <a:path w="7490459" h="1598929">
                  <a:moveTo>
                    <a:pt x="7435455" y="1598533"/>
                  </a:moveTo>
                  <a:lnTo>
                    <a:pt x="54813" y="1598533"/>
                  </a:lnTo>
                  <a:lnTo>
                    <a:pt x="33477" y="1594225"/>
                  </a:lnTo>
                  <a:lnTo>
                    <a:pt x="16054" y="1582478"/>
                  </a:lnTo>
                  <a:lnTo>
                    <a:pt x="4307" y="1565055"/>
                  </a:lnTo>
                  <a:lnTo>
                    <a:pt x="0" y="1543719"/>
                  </a:lnTo>
                  <a:lnTo>
                    <a:pt x="0" y="54813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3" y="0"/>
                  </a:lnTo>
                  <a:lnTo>
                    <a:pt x="7435455" y="0"/>
                  </a:lnTo>
                  <a:lnTo>
                    <a:pt x="7474215" y="16054"/>
                  </a:lnTo>
                  <a:lnTo>
                    <a:pt x="7490269" y="54813"/>
                  </a:lnTo>
                  <a:lnTo>
                    <a:pt x="7490269" y="1543719"/>
                  </a:lnTo>
                  <a:lnTo>
                    <a:pt x="7485962" y="1565055"/>
                  </a:lnTo>
                  <a:lnTo>
                    <a:pt x="7474215" y="1582478"/>
                  </a:lnTo>
                  <a:lnTo>
                    <a:pt x="7456791" y="1594225"/>
                  </a:lnTo>
                  <a:lnTo>
                    <a:pt x="7435455" y="1598533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9413" y="4704254"/>
              <a:ext cx="7490459" cy="1598930"/>
            </a:xfrm>
            <a:custGeom>
              <a:avLst/>
              <a:gdLst/>
              <a:ahLst/>
              <a:cxnLst/>
              <a:rect l="l" t="t" r="r" b="b"/>
              <a:pathLst>
                <a:path w="7490459" h="1598929">
                  <a:moveTo>
                    <a:pt x="0" y="54813"/>
                  </a:move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3" y="0"/>
                  </a:lnTo>
                  <a:lnTo>
                    <a:pt x="7435455" y="0"/>
                  </a:lnTo>
                  <a:lnTo>
                    <a:pt x="7474215" y="16054"/>
                  </a:lnTo>
                  <a:lnTo>
                    <a:pt x="7490269" y="54813"/>
                  </a:lnTo>
                  <a:lnTo>
                    <a:pt x="7490269" y="1543719"/>
                  </a:lnTo>
                  <a:lnTo>
                    <a:pt x="7485962" y="1565055"/>
                  </a:lnTo>
                  <a:lnTo>
                    <a:pt x="7474215" y="1582478"/>
                  </a:lnTo>
                  <a:lnTo>
                    <a:pt x="7456791" y="1594225"/>
                  </a:lnTo>
                  <a:lnTo>
                    <a:pt x="7435455" y="1598533"/>
                  </a:lnTo>
                  <a:lnTo>
                    <a:pt x="54813" y="1598533"/>
                  </a:lnTo>
                  <a:lnTo>
                    <a:pt x="33477" y="1594225"/>
                  </a:lnTo>
                  <a:lnTo>
                    <a:pt x="16054" y="1582478"/>
                  </a:lnTo>
                  <a:lnTo>
                    <a:pt x="4307" y="1565055"/>
                  </a:lnTo>
                  <a:lnTo>
                    <a:pt x="0" y="1543719"/>
                  </a:lnTo>
                  <a:lnTo>
                    <a:pt x="0" y="54813"/>
                  </a:lnTo>
                  <a:close/>
                </a:path>
              </a:pathLst>
            </a:custGeom>
            <a:ln w="12686">
              <a:solidFill>
                <a:srgbClr val="263A6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92077" y="4939136"/>
            <a:ext cx="37528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20" b="1">
                <a:solidFill>
                  <a:srgbClr val="8FA2C7"/>
                </a:solidFill>
                <a:latin typeface="Calibri"/>
                <a:cs typeface="Calibri"/>
              </a:rPr>
              <a:t>NAME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2077" y="5214440"/>
            <a:ext cx="782955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b="1">
                <a:solidFill>
                  <a:srgbClr val="FFFFFF"/>
                </a:solidFill>
                <a:latin typeface="Calibri"/>
                <a:cs typeface="Calibri"/>
              </a:rPr>
              <a:t>Rakina</a:t>
            </a:r>
            <a:r>
              <a:rPr dirty="0" sz="17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06453" y="4939136"/>
            <a:ext cx="10871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8FA2C7"/>
                </a:solidFill>
                <a:latin typeface="Calibri"/>
                <a:cs typeface="Calibri"/>
              </a:rPr>
              <a:t>REGISTER</a:t>
            </a:r>
            <a:r>
              <a:rPr dirty="0" sz="1050" spc="-15" b="1">
                <a:solidFill>
                  <a:srgbClr val="8FA2C7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8FA2C7"/>
                </a:solidFill>
                <a:latin typeface="Calibri"/>
                <a:cs typeface="Calibri"/>
              </a:rPr>
              <a:t>NUMBER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06453" y="5214440"/>
            <a:ext cx="1009015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192324289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2077" y="5715567"/>
            <a:ext cx="85344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8FA2C7"/>
                </a:solidFill>
                <a:latin typeface="Calibri"/>
                <a:cs typeface="Calibri"/>
              </a:rPr>
              <a:t>COURSE</a:t>
            </a:r>
            <a:r>
              <a:rPr dirty="0" sz="1050" spc="-5" b="1">
                <a:solidFill>
                  <a:srgbClr val="8FA2C7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8FA2C7"/>
                </a:solidFill>
                <a:latin typeface="Calibri"/>
                <a:cs typeface="Calibri"/>
              </a:rPr>
              <a:t>NAME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2077" y="6013072"/>
            <a:ext cx="2348230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dirty="0" sz="14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Vision</a:t>
            </a:r>
            <a:r>
              <a:rPr dirty="0" sz="14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4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OpenCV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33348" y="5715567"/>
            <a:ext cx="8121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8FA2C7"/>
                </a:solidFill>
                <a:latin typeface="Calibri"/>
                <a:cs typeface="Calibri"/>
              </a:rPr>
              <a:t>COURSE</a:t>
            </a:r>
            <a:r>
              <a:rPr dirty="0" sz="1050" spc="-5" b="1">
                <a:solidFill>
                  <a:srgbClr val="8FA2C7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8FA2C7"/>
                </a:solidFill>
                <a:latin typeface="Calibri"/>
                <a:cs typeface="Calibri"/>
              </a:rPr>
              <a:t>CODE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33348" y="6013072"/>
            <a:ext cx="710565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spc="-10" b="1">
                <a:solidFill>
                  <a:srgbClr val="17C6C6"/>
                </a:solidFill>
                <a:latin typeface="Calibri"/>
                <a:cs typeface="Calibri"/>
              </a:rPr>
              <a:t>DSA0202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4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8042" y="569305"/>
            <a:ext cx="8794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7C6C6"/>
                </a:solidFill>
                <a:latin typeface="Calibri"/>
                <a:cs typeface="Calibri"/>
              </a:rPr>
              <a:t>Introduction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8042" y="902333"/>
            <a:ext cx="7579359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How</a:t>
            </a:r>
            <a:r>
              <a:rPr dirty="0" sz="2800" spc="-55"/>
              <a:t> </a:t>
            </a:r>
            <a:r>
              <a:rPr dirty="0" sz="2800"/>
              <a:t>an</a:t>
            </a:r>
            <a:r>
              <a:rPr dirty="0" sz="2800" spc="-55"/>
              <a:t> </a:t>
            </a:r>
            <a:r>
              <a:rPr dirty="0" sz="2800"/>
              <a:t>AR</a:t>
            </a:r>
            <a:r>
              <a:rPr dirty="0" sz="2800" spc="-50"/>
              <a:t> </a:t>
            </a:r>
            <a:r>
              <a:rPr dirty="0" sz="2800"/>
              <a:t>App</a:t>
            </a:r>
            <a:r>
              <a:rPr dirty="0" sz="2800" spc="-55"/>
              <a:t> </a:t>
            </a:r>
            <a:r>
              <a:rPr dirty="0" sz="2800" spc="-10"/>
              <a:t>Understands</a:t>
            </a:r>
            <a:r>
              <a:rPr dirty="0" sz="2800" spc="-50"/>
              <a:t> </a:t>
            </a:r>
            <a:r>
              <a:rPr dirty="0" sz="2800"/>
              <a:t>and</a:t>
            </a:r>
            <a:r>
              <a:rPr dirty="0" sz="2800" spc="-55"/>
              <a:t> </a:t>
            </a:r>
            <a:r>
              <a:rPr dirty="0" sz="2800"/>
              <a:t>Augments</a:t>
            </a:r>
            <a:r>
              <a:rPr dirty="0" sz="2800" spc="-55"/>
              <a:t> </a:t>
            </a:r>
            <a:r>
              <a:rPr dirty="0" sz="2800" spc="-10"/>
              <a:t>Reality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718042" y="1662587"/>
            <a:ext cx="1027747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An</a:t>
            </a:r>
            <a:r>
              <a:rPr dirty="0" sz="1450" spc="-4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AR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mobile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app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must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do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two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things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at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once: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it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must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see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the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real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world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through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a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camera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(computer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vision)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and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it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must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draw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convincing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virtual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content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on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top</a:t>
            </a:r>
            <a:r>
              <a:rPr dirty="0" sz="1450" spc="-4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of</a:t>
            </a:r>
            <a:r>
              <a:rPr dirty="0" sz="1450" spc="-3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it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(computer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graphics).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Both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pipelines</a:t>
            </a:r>
            <a:r>
              <a:rPr dirty="0" sz="1450" spc="-3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share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one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camera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model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and</a:t>
            </a:r>
            <a:r>
              <a:rPr dirty="0" sz="1450" spc="-3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must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run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3A4564"/>
                </a:solidFill>
                <a:latin typeface="Calibri"/>
                <a:cs typeface="Calibri"/>
              </a:rPr>
              <a:t>together,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every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frame,</a:t>
            </a:r>
            <a:r>
              <a:rPr dirty="0" sz="1450" spc="-30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in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3A4564"/>
                </a:solidFill>
                <a:latin typeface="Calibri"/>
                <a:cs typeface="Calibri"/>
              </a:rPr>
              <a:t>real</a:t>
            </a:r>
            <a:r>
              <a:rPr dirty="0" sz="1450" spc="-35">
                <a:solidFill>
                  <a:srgbClr val="3A4564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3A4564"/>
                </a:solidFill>
                <a:latin typeface="Calibri"/>
                <a:cs typeface="Calibri"/>
              </a:rPr>
              <a:t>time.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6202" y="2645191"/>
            <a:ext cx="3646804" cy="3463925"/>
            <a:chOff x="506202" y="2645191"/>
            <a:chExt cx="3646804" cy="34639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202" y="2645191"/>
              <a:ext cx="3646178" cy="34634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9413" y="2740342"/>
              <a:ext cx="3380104" cy="3197225"/>
            </a:xfrm>
            <a:custGeom>
              <a:avLst/>
              <a:gdLst/>
              <a:ahLst/>
              <a:cxnLst/>
              <a:rect l="l" t="t" r="r" b="b"/>
              <a:pathLst>
                <a:path w="3380104" h="3197225">
                  <a:moveTo>
                    <a:pt x="3315814" y="3197066"/>
                  </a:moveTo>
                  <a:lnTo>
                    <a:pt x="63941" y="3197066"/>
                  </a:lnTo>
                  <a:lnTo>
                    <a:pt x="39052" y="3192041"/>
                  </a:lnTo>
                  <a:lnTo>
                    <a:pt x="18727" y="3178338"/>
                  </a:lnTo>
                  <a:lnTo>
                    <a:pt x="5024" y="3158013"/>
                  </a:lnTo>
                  <a:lnTo>
                    <a:pt x="0" y="3133125"/>
                  </a:lnTo>
                  <a:lnTo>
                    <a:pt x="0" y="63941"/>
                  </a:lnTo>
                  <a:lnTo>
                    <a:pt x="5024" y="39052"/>
                  </a:lnTo>
                  <a:lnTo>
                    <a:pt x="18727" y="18728"/>
                  </a:lnTo>
                  <a:lnTo>
                    <a:pt x="39052" y="5024"/>
                  </a:lnTo>
                  <a:lnTo>
                    <a:pt x="63941" y="0"/>
                  </a:lnTo>
                  <a:lnTo>
                    <a:pt x="3315814" y="0"/>
                  </a:lnTo>
                  <a:lnTo>
                    <a:pt x="3361027" y="18727"/>
                  </a:lnTo>
                  <a:lnTo>
                    <a:pt x="3379755" y="63941"/>
                  </a:lnTo>
                  <a:lnTo>
                    <a:pt x="3379755" y="3133125"/>
                  </a:lnTo>
                  <a:lnTo>
                    <a:pt x="3374731" y="3158013"/>
                  </a:lnTo>
                  <a:lnTo>
                    <a:pt x="3361027" y="3178338"/>
                  </a:lnTo>
                  <a:lnTo>
                    <a:pt x="3340703" y="3192041"/>
                  </a:lnTo>
                  <a:lnTo>
                    <a:pt x="3315814" y="31970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9413" y="2740342"/>
              <a:ext cx="3380104" cy="3197225"/>
            </a:xfrm>
            <a:custGeom>
              <a:avLst/>
              <a:gdLst/>
              <a:ahLst/>
              <a:cxnLst/>
              <a:rect l="l" t="t" r="r" b="b"/>
              <a:pathLst>
                <a:path w="3380104" h="3197225">
                  <a:moveTo>
                    <a:pt x="0" y="63941"/>
                  </a:moveTo>
                  <a:lnTo>
                    <a:pt x="5024" y="39052"/>
                  </a:lnTo>
                  <a:lnTo>
                    <a:pt x="18727" y="18728"/>
                  </a:lnTo>
                  <a:lnTo>
                    <a:pt x="39052" y="5024"/>
                  </a:lnTo>
                  <a:lnTo>
                    <a:pt x="63941" y="0"/>
                  </a:lnTo>
                  <a:lnTo>
                    <a:pt x="3315814" y="0"/>
                  </a:lnTo>
                  <a:lnTo>
                    <a:pt x="3361027" y="18727"/>
                  </a:lnTo>
                  <a:lnTo>
                    <a:pt x="3379755" y="63941"/>
                  </a:lnTo>
                  <a:lnTo>
                    <a:pt x="3379755" y="3133125"/>
                  </a:lnTo>
                  <a:lnTo>
                    <a:pt x="3374731" y="3158013"/>
                  </a:lnTo>
                  <a:lnTo>
                    <a:pt x="3361027" y="3178338"/>
                  </a:lnTo>
                  <a:lnTo>
                    <a:pt x="3340703" y="3192041"/>
                  </a:lnTo>
                  <a:lnTo>
                    <a:pt x="3315814" y="3197066"/>
                  </a:lnTo>
                  <a:lnTo>
                    <a:pt x="63941" y="3197066"/>
                  </a:lnTo>
                  <a:lnTo>
                    <a:pt x="39052" y="3192041"/>
                  </a:lnTo>
                  <a:lnTo>
                    <a:pt x="18727" y="3178338"/>
                  </a:lnTo>
                  <a:lnTo>
                    <a:pt x="5024" y="3158013"/>
                  </a:lnTo>
                  <a:lnTo>
                    <a:pt x="0" y="3133125"/>
                  </a:lnTo>
                  <a:lnTo>
                    <a:pt x="0" y="63941"/>
                  </a:lnTo>
                  <a:close/>
                </a:path>
              </a:pathLst>
            </a:custGeom>
            <a:ln w="12686">
              <a:solidFill>
                <a:srgbClr val="E1E6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59119" y="306004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198" y="502396"/>
                  </a:moveTo>
                  <a:lnTo>
                    <a:pt x="206044" y="498349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2"/>
                  </a:lnTo>
                  <a:lnTo>
                    <a:pt x="502396" y="251198"/>
                  </a:lnTo>
                  <a:lnTo>
                    <a:pt x="498349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9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17C6C6">
                <a:alpha val="8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32900" y="3151063"/>
            <a:ext cx="141605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2077" y="3863742"/>
            <a:ext cx="1878330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b="1">
                <a:solidFill>
                  <a:srgbClr val="16203D"/>
                </a:solidFill>
                <a:latin typeface="Calibri"/>
                <a:cs typeface="Calibri"/>
              </a:rPr>
              <a:t>A.</a:t>
            </a:r>
            <a:r>
              <a:rPr dirty="0" sz="1650" spc="-4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16203D"/>
                </a:solidFill>
                <a:latin typeface="Calibri"/>
                <a:cs typeface="Calibri"/>
              </a:rPr>
              <a:t>Graphics</a:t>
            </a:r>
            <a:r>
              <a:rPr dirty="0" sz="1650" spc="-4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16203D"/>
                </a:solidFill>
                <a:latin typeface="Calibri"/>
                <a:cs typeface="Calibri"/>
              </a:rPr>
              <a:t>vs.</a:t>
            </a:r>
            <a:r>
              <a:rPr dirty="0" sz="1650" spc="-35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16203D"/>
                </a:solidFill>
                <a:latin typeface="Calibri"/>
                <a:cs typeface="Calibri"/>
              </a:rPr>
              <a:t>Vision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2077" y="4623362"/>
            <a:ext cx="2625725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4900"/>
              </a:lnSpc>
              <a:spcBef>
                <a:spcPts val="100"/>
              </a:spcBef>
            </a:pP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Two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opposite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pipelines: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one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synthesizes pixels</a:t>
            </a:r>
            <a:r>
              <a:rPr dirty="0" sz="1250" spc="-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from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a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3-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D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model,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other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infers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a</a:t>
            </a:r>
            <a:r>
              <a:rPr dirty="0" sz="1250" spc="-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3-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D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model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from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pixels.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05664" y="2645191"/>
            <a:ext cx="3646804" cy="3463925"/>
            <a:chOff x="4205664" y="2645191"/>
            <a:chExt cx="3646804" cy="34639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5664" y="2645191"/>
              <a:ext cx="3646177" cy="34634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338875" y="2740342"/>
              <a:ext cx="3380104" cy="3197225"/>
            </a:xfrm>
            <a:custGeom>
              <a:avLst/>
              <a:gdLst/>
              <a:ahLst/>
              <a:cxnLst/>
              <a:rect l="l" t="t" r="r" b="b"/>
              <a:pathLst>
                <a:path w="3380104" h="3197225">
                  <a:moveTo>
                    <a:pt x="3315814" y="3197066"/>
                  </a:moveTo>
                  <a:lnTo>
                    <a:pt x="63941" y="3197066"/>
                  </a:lnTo>
                  <a:lnTo>
                    <a:pt x="39052" y="3192041"/>
                  </a:lnTo>
                  <a:lnTo>
                    <a:pt x="18728" y="3178338"/>
                  </a:lnTo>
                  <a:lnTo>
                    <a:pt x="5024" y="3158013"/>
                  </a:lnTo>
                  <a:lnTo>
                    <a:pt x="0" y="3133125"/>
                  </a:lnTo>
                  <a:lnTo>
                    <a:pt x="0" y="63941"/>
                  </a:lnTo>
                  <a:lnTo>
                    <a:pt x="5024" y="39052"/>
                  </a:lnTo>
                  <a:lnTo>
                    <a:pt x="18728" y="18728"/>
                  </a:lnTo>
                  <a:lnTo>
                    <a:pt x="39052" y="5024"/>
                  </a:lnTo>
                  <a:lnTo>
                    <a:pt x="63941" y="0"/>
                  </a:lnTo>
                  <a:lnTo>
                    <a:pt x="3315814" y="0"/>
                  </a:lnTo>
                  <a:lnTo>
                    <a:pt x="3361027" y="18727"/>
                  </a:lnTo>
                  <a:lnTo>
                    <a:pt x="3379755" y="63941"/>
                  </a:lnTo>
                  <a:lnTo>
                    <a:pt x="3379755" y="3133125"/>
                  </a:lnTo>
                  <a:lnTo>
                    <a:pt x="3374730" y="3158013"/>
                  </a:lnTo>
                  <a:lnTo>
                    <a:pt x="3361027" y="3178338"/>
                  </a:lnTo>
                  <a:lnTo>
                    <a:pt x="3340703" y="3192041"/>
                  </a:lnTo>
                  <a:lnTo>
                    <a:pt x="3315814" y="31970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38875" y="2740342"/>
              <a:ext cx="3380104" cy="3197225"/>
            </a:xfrm>
            <a:custGeom>
              <a:avLst/>
              <a:gdLst/>
              <a:ahLst/>
              <a:cxnLst/>
              <a:rect l="l" t="t" r="r" b="b"/>
              <a:pathLst>
                <a:path w="3380104" h="3197225">
                  <a:moveTo>
                    <a:pt x="0" y="63941"/>
                  </a:moveTo>
                  <a:lnTo>
                    <a:pt x="5024" y="39052"/>
                  </a:lnTo>
                  <a:lnTo>
                    <a:pt x="18728" y="18728"/>
                  </a:lnTo>
                  <a:lnTo>
                    <a:pt x="39052" y="5024"/>
                  </a:lnTo>
                  <a:lnTo>
                    <a:pt x="63941" y="0"/>
                  </a:lnTo>
                  <a:lnTo>
                    <a:pt x="3315814" y="0"/>
                  </a:lnTo>
                  <a:lnTo>
                    <a:pt x="3361027" y="18727"/>
                  </a:lnTo>
                  <a:lnTo>
                    <a:pt x="3379755" y="63941"/>
                  </a:lnTo>
                  <a:lnTo>
                    <a:pt x="3379755" y="3133125"/>
                  </a:lnTo>
                  <a:lnTo>
                    <a:pt x="3374730" y="3158013"/>
                  </a:lnTo>
                  <a:lnTo>
                    <a:pt x="3361027" y="3178338"/>
                  </a:lnTo>
                  <a:lnTo>
                    <a:pt x="3340703" y="3192041"/>
                  </a:lnTo>
                  <a:lnTo>
                    <a:pt x="3315814" y="3197066"/>
                  </a:lnTo>
                  <a:lnTo>
                    <a:pt x="63941" y="3197066"/>
                  </a:lnTo>
                  <a:lnTo>
                    <a:pt x="39052" y="3192041"/>
                  </a:lnTo>
                  <a:lnTo>
                    <a:pt x="18728" y="3178338"/>
                  </a:lnTo>
                  <a:lnTo>
                    <a:pt x="5024" y="3158013"/>
                  </a:lnTo>
                  <a:lnTo>
                    <a:pt x="0" y="3133125"/>
                  </a:lnTo>
                  <a:lnTo>
                    <a:pt x="0" y="63941"/>
                  </a:lnTo>
                  <a:close/>
                </a:path>
              </a:pathLst>
            </a:custGeom>
            <a:ln w="12686">
              <a:solidFill>
                <a:srgbClr val="E1E6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58581" y="306004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198" y="502396"/>
                  </a:moveTo>
                  <a:lnTo>
                    <a:pt x="206045" y="498349"/>
                  </a:lnTo>
                  <a:lnTo>
                    <a:pt x="163547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6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6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7" y="15715"/>
                  </a:lnTo>
                  <a:lnTo>
                    <a:pt x="206045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3" y="42204"/>
                  </a:lnTo>
                  <a:lnTo>
                    <a:pt x="428822" y="73574"/>
                  </a:lnTo>
                  <a:lnTo>
                    <a:pt x="460192" y="111833"/>
                  </a:lnTo>
                  <a:lnTo>
                    <a:pt x="483275" y="155068"/>
                  </a:lnTo>
                  <a:lnTo>
                    <a:pt x="497525" y="201962"/>
                  </a:lnTo>
                  <a:lnTo>
                    <a:pt x="502396" y="251198"/>
                  </a:lnTo>
                  <a:lnTo>
                    <a:pt x="498349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2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9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F1A83B">
                <a:alpha val="8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832362" y="3151063"/>
            <a:ext cx="141605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91539" y="3863742"/>
            <a:ext cx="152082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b="1">
                <a:solidFill>
                  <a:srgbClr val="16203D"/>
                </a:solidFill>
                <a:latin typeface="Calibri"/>
                <a:cs typeface="Calibri"/>
              </a:rPr>
              <a:t>B.</a:t>
            </a:r>
            <a:r>
              <a:rPr dirty="0" sz="1650" spc="-5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16203D"/>
                </a:solidFill>
                <a:latin typeface="Calibri"/>
                <a:cs typeface="Calibri"/>
              </a:rPr>
              <a:t>Camera</a:t>
            </a:r>
            <a:r>
              <a:rPr dirty="0" sz="1650" spc="-5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650" spc="-20" b="1">
                <a:solidFill>
                  <a:srgbClr val="16203D"/>
                </a:solidFill>
                <a:latin typeface="Calibri"/>
                <a:cs typeface="Calibri"/>
              </a:rPr>
              <a:t>Model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91539" y="4623362"/>
            <a:ext cx="2583815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pinhole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projection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&amp;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calibration parameters</a:t>
            </a:r>
            <a:r>
              <a:rPr dirty="0" sz="1250" spc="-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that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map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real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3-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D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world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to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phone's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2-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D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screen.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905126" y="2645191"/>
            <a:ext cx="3646804" cy="3463925"/>
            <a:chOff x="7905126" y="2645191"/>
            <a:chExt cx="3646804" cy="346392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5126" y="2645191"/>
              <a:ext cx="3646177" cy="346348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038338" y="2740342"/>
              <a:ext cx="3380104" cy="3197225"/>
            </a:xfrm>
            <a:custGeom>
              <a:avLst/>
              <a:gdLst/>
              <a:ahLst/>
              <a:cxnLst/>
              <a:rect l="l" t="t" r="r" b="b"/>
              <a:pathLst>
                <a:path w="3380104" h="3197225">
                  <a:moveTo>
                    <a:pt x="3315814" y="3197066"/>
                  </a:moveTo>
                  <a:lnTo>
                    <a:pt x="63941" y="3197066"/>
                  </a:lnTo>
                  <a:lnTo>
                    <a:pt x="39052" y="3192041"/>
                  </a:lnTo>
                  <a:lnTo>
                    <a:pt x="18727" y="3178338"/>
                  </a:lnTo>
                  <a:lnTo>
                    <a:pt x="5024" y="3158013"/>
                  </a:lnTo>
                  <a:lnTo>
                    <a:pt x="0" y="3133125"/>
                  </a:lnTo>
                  <a:lnTo>
                    <a:pt x="0" y="63941"/>
                  </a:lnTo>
                  <a:lnTo>
                    <a:pt x="5024" y="39052"/>
                  </a:lnTo>
                  <a:lnTo>
                    <a:pt x="18727" y="18728"/>
                  </a:lnTo>
                  <a:lnTo>
                    <a:pt x="39052" y="5024"/>
                  </a:lnTo>
                  <a:lnTo>
                    <a:pt x="63941" y="0"/>
                  </a:lnTo>
                  <a:lnTo>
                    <a:pt x="3315814" y="0"/>
                  </a:lnTo>
                  <a:lnTo>
                    <a:pt x="3361027" y="18727"/>
                  </a:lnTo>
                  <a:lnTo>
                    <a:pt x="3379755" y="63941"/>
                  </a:lnTo>
                  <a:lnTo>
                    <a:pt x="3379755" y="3133125"/>
                  </a:lnTo>
                  <a:lnTo>
                    <a:pt x="3374730" y="3158013"/>
                  </a:lnTo>
                  <a:lnTo>
                    <a:pt x="3361027" y="3178338"/>
                  </a:lnTo>
                  <a:lnTo>
                    <a:pt x="3340703" y="3192041"/>
                  </a:lnTo>
                  <a:lnTo>
                    <a:pt x="3315814" y="31970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038338" y="2740342"/>
              <a:ext cx="3380104" cy="3197225"/>
            </a:xfrm>
            <a:custGeom>
              <a:avLst/>
              <a:gdLst/>
              <a:ahLst/>
              <a:cxnLst/>
              <a:rect l="l" t="t" r="r" b="b"/>
              <a:pathLst>
                <a:path w="3380104" h="3197225">
                  <a:moveTo>
                    <a:pt x="0" y="63941"/>
                  </a:moveTo>
                  <a:lnTo>
                    <a:pt x="5024" y="39052"/>
                  </a:lnTo>
                  <a:lnTo>
                    <a:pt x="18727" y="18728"/>
                  </a:lnTo>
                  <a:lnTo>
                    <a:pt x="39052" y="5024"/>
                  </a:lnTo>
                  <a:lnTo>
                    <a:pt x="63941" y="0"/>
                  </a:lnTo>
                  <a:lnTo>
                    <a:pt x="3315814" y="0"/>
                  </a:lnTo>
                  <a:lnTo>
                    <a:pt x="3361027" y="18727"/>
                  </a:lnTo>
                  <a:lnTo>
                    <a:pt x="3379755" y="63941"/>
                  </a:lnTo>
                  <a:lnTo>
                    <a:pt x="3379755" y="3133125"/>
                  </a:lnTo>
                  <a:lnTo>
                    <a:pt x="3374730" y="3158013"/>
                  </a:lnTo>
                  <a:lnTo>
                    <a:pt x="3361027" y="3178338"/>
                  </a:lnTo>
                  <a:lnTo>
                    <a:pt x="3340703" y="3192041"/>
                  </a:lnTo>
                  <a:lnTo>
                    <a:pt x="3315814" y="3197066"/>
                  </a:lnTo>
                  <a:lnTo>
                    <a:pt x="63941" y="3197066"/>
                  </a:lnTo>
                  <a:lnTo>
                    <a:pt x="39052" y="3192041"/>
                  </a:lnTo>
                  <a:lnTo>
                    <a:pt x="18727" y="3178338"/>
                  </a:lnTo>
                  <a:lnTo>
                    <a:pt x="5024" y="3158013"/>
                  </a:lnTo>
                  <a:lnTo>
                    <a:pt x="0" y="3133125"/>
                  </a:lnTo>
                  <a:lnTo>
                    <a:pt x="0" y="63941"/>
                  </a:lnTo>
                  <a:close/>
                </a:path>
              </a:pathLst>
            </a:custGeom>
            <a:ln w="12686">
              <a:solidFill>
                <a:srgbClr val="E1E6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358044" y="306004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198" y="502396"/>
                  </a:moveTo>
                  <a:lnTo>
                    <a:pt x="206044" y="498349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2"/>
                  </a:lnTo>
                  <a:lnTo>
                    <a:pt x="502395" y="251198"/>
                  </a:lnTo>
                  <a:lnTo>
                    <a:pt x="498348" y="296351"/>
                  </a:lnTo>
                  <a:lnTo>
                    <a:pt x="486680" y="338849"/>
                  </a:lnTo>
                  <a:lnTo>
                    <a:pt x="468099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9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6B62FF">
                <a:alpha val="8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531824" y="3151063"/>
            <a:ext cx="141605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8391001" y="3863742"/>
            <a:ext cx="2089150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b="1">
                <a:solidFill>
                  <a:srgbClr val="16203D"/>
                </a:solidFill>
                <a:latin typeface="Calibri"/>
                <a:cs typeface="Calibri"/>
              </a:rPr>
              <a:t>C.</a:t>
            </a:r>
            <a:r>
              <a:rPr dirty="0" sz="1650" spc="-15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16203D"/>
                </a:solidFill>
                <a:latin typeface="Calibri"/>
                <a:cs typeface="Calibri"/>
              </a:rPr>
              <a:t>Real-</a:t>
            </a:r>
            <a:r>
              <a:rPr dirty="0" sz="1650" b="1">
                <a:solidFill>
                  <a:srgbClr val="16203D"/>
                </a:solidFill>
                <a:latin typeface="Calibri"/>
                <a:cs typeface="Calibri"/>
              </a:rPr>
              <a:t>Time</a:t>
            </a:r>
            <a:r>
              <a:rPr dirty="0" sz="1650" spc="-15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16203D"/>
                </a:solidFill>
                <a:latin typeface="Calibri"/>
                <a:cs typeface="Calibri"/>
              </a:rPr>
              <a:t>Challenges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91001" y="4623362"/>
            <a:ext cx="2623185" cy="73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Tracking</a:t>
            </a:r>
            <a:r>
              <a:rPr dirty="0" sz="1250" spc="-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drift,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latency,</a:t>
            </a:r>
            <a:r>
              <a:rPr dirty="0" sz="1250" spc="-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lighting</a:t>
            </a:r>
            <a:r>
              <a:rPr dirty="0" sz="1250" spc="-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changes,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limited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mobile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compute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—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all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inside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a</a:t>
            </a:r>
            <a:r>
              <a:rPr dirty="0" sz="1250" spc="-2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16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86686"/>
                </a:solidFill>
                <a:latin typeface="Calibri"/>
                <a:cs typeface="Calibri"/>
              </a:rPr>
              <a:t>ms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frame</a:t>
            </a:r>
            <a:r>
              <a:rPr dirty="0" sz="1250" spc="-2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86686"/>
                </a:solidFill>
                <a:latin typeface="Calibri"/>
                <a:cs typeface="Calibri"/>
              </a:rPr>
              <a:t>budget.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9413" y="411051"/>
            <a:ext cx="822325" cy="822325"/>
          </a:xfrm>
          <a:prstGeom prst="rect">
            <a:avLst/>
          </a:prstGeom>
          <a:solidFill>
            <a:srgbClr val="17C6C6"/>
          </a:solidFill>
        </p:spPr>
        <p:txBody>
          <a:bodyPr wrap="square" lIns="0" tIns="1949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35"/>
              </a:spcBef>
            </a:pPr>
            <a:r>
              <a:rPr dirty="0" sz="2600" spc="-5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/>
              <a:t>Computer</a:t>
            </a:r>
            <a:r>
              <a:rPr dirty="0" sz="2500" spc="-105"/>
              <a:t> </a:t>
            </a:r>
            <a:r>
              <a:rPr dirty="0" sz="2500"/>
              <a:t>Graphics</a:t>
            </a:r>
            <a:r>
              <a:rPr dirty="0" sz="2500" spc="-100"/>
              <a:t> </a:t>
            </a:r>
            <a:r>
              <a:rPr dirty="0" sz="2500"/>
              <a:t>vs.</a:t>
            </a:r>
            <a:r>
              <a:rPr dirty="0" sz="2500" spc="-105"/>
              <a:t> </a:t>
            </a:r>
            <a:r>
              <a:rPr dirty="0" sz="2500"/>
              <a:t>Computer</a:t>
            </a:r>
            <a:r>
              <a:rPr dirty="0" sz="2500" spc="-100"/>
              <a:t> </a:t>
            </a:r>
            <a:r>
              <a:rPr dirty="0" sz="2500" spc="-10"/>
              <a:t>Vision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1768507" y="1014928"/>
            <a:ext cx="4373880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Two</a:t>
            </a:r>
            <a:r>
              <a:rPr dirty="0" sz="1350" spc="-2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pipelines</a:t>
            </a:r>
            <a:r>
              <a:rPr dirty="0" sz="1350" spc="-2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running</a:t>
            </a:r>
            <a:r>
              <a:rPr dirty="0" sz="1350" spc="-2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in</a:t>
            </a:r>
            <a:r>
              <a:rPr dirty="0" sz="1350" spc="-2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opposite</a:t>
            </a:r>
            <a:r>
              <a:rPr dirty="0" sz="1350" spc="-2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directions</a:t>
            </a:r>
            <a:r>
              <a:rPr dirty="0" sz="1350" spc="-2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on</a:t>
            </a:r>
            <a:r>
              <a:rPr dirty="0" sz="1350" spc="-15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the</a:t>
            </a:r>
            <a:r>
              <a:rPr dirty="0" sz="1350" spc="-2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same</a:t>
            </a:r>
            <a:r>
              <a:rPr dirty="0" sz="1350" spc="-2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scene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9413" y="1598533"/>
            <a:ext cx="5161280" cy="3928110"/>
            <a:chOff x="639413" y="1598533"/>
            <a:chExt cx="5161280" cy="3928110"/>
          </a:xfrm>
        </p:grpSpPr>
        <p:sp>
          <p:nvSpPr>
            <p:cNvPr id="6" name="object 6"/>
            <p:cNvSpPr/>
            <p:nvPr/>
          </p:nvSpPr>
          <p:spPr>
            <a:xfrm>
              <a:off x="639413" y="1598533"/>
              <a:ext cx="5161280" cy="3928110"/>
            </a:xfrm>
            <a:custGeom>
              <a:avLst/>
              <a:gdLst/>
              <a:ahLst/>
              <a:cxnLst/>
              <a:rect l="l" t="t" r="r" b="b"/>
              <a:pathLst>
                <a:path w="5161280" h="3928110">
                  <a:moveTo>
                    <a:pt x="5106185" y="3927824"/>
                  </a:moveTo>
                  <a:lnTo>
                    <a:pt x="54793" y="3927824"/>
                  </a:lnTo>
                  <a:lnTo>
                    <a:pt x="33465" y="3923518"/>
                  </a:lnTo>
                  <a:lnTo>
                    <a:pt x="16048" y="3911775"/>
                  </a:lnTo>
                  <a:lnTo>
                    <a:pt x="4305" y="3894358"/>
                  </a:lnTo>
                  <a:lnTo>
                    <a:pt x="0" y="3873030"/>
                  </a:lnTo>
                  <a:lnTo>
                    <a:pt x="0" y="54793"/>
                  </a:lnTo>
                  <a:lnTo>
                    <a:pt x="4305" y="33465"/>
                  </a:lnTo>
                  <a:lnTo>
                    <a:pt x="16048" y="16048"/>
                  </a:lnTo>
                  <a:lnTo>
                    <a:pt x="33465" y="4305"/>
                  </a:lnTo>
                  <a:lnTo>
                    <a:pt x="54793" y="0"/>
                  </a:lnTo>
                  <a:lnTo>
                    <a:pt x="5106185" y="0"/>
                  </a:lnTo>
                  <a:lnTo>
                    <a:pt x="5144929" y="16048"/>
                  </a:lnTo>
                  <a:lnTo>
                    <a:pt x="5160978" y="54793"/>
                  </a:lnTo>
                  <a:lnTo>
                    <a:pt x="5160978" y="3873030"/>
                  </a:lnTo>
                  <a:lnTo>
                    <a:pt x="5156672" y="3894358"/>
                  </a:lnTo>
                  <a:lnTo>
                    <a:pt x="5144929" y="3911775"/>
                  </a:lnTo>
                  <a:lnTo>
                    <a:pt x="5127513" y="3923518"/>
                  </a:lnTo>
                  <a:lnTo>
                    <a:pt x="5106185" y="3927824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16914" y="2020685"/>
              <a:ext cx="110489" cy="46990"/>
            </a:xfrm>
            <a:custGeom>
              <a:avLst/>
              <a:gdLst/>
              <a:ahLst/>
              <a:cxnLst/>
              <a:rect l="l" t="t" r="r" b="b"/>
              <a:pathLst>
                <a:path w="110489" h="46989">
                  <a:moveTo>
                    <a:pt x="85511" y="46832"/>
                  </a:moveTo>
                  <a:lnTo>
                    <a:pt x="73933" y="46832"/>
                  </a:lnTo>
                  <a:lnTo>
                    <a:pt x="78790" y="36685"/>
                  </a:lnTo>
                  <a:lnTo>
                    <a:pt x="81739" y="30990"/>
                  </a:lnTo>
                  <a:lnTo>
                    <a:pt x="82779" y="29747"/>
                  </a:lnTo>
                  <a:lnTo>
                    <a:pt x="0" y="29747"/>
                  </a:lnTo>
                  <a:lnTo>
                    <a:pt x="0" y="17085"/>
                  </a:lnTo>
                  <a:lnTo>
                    <a:pt x="82779" y="17085"/>
                  </a:lnTo>
                  <a:lnTo>
                    <a:pt x="81739" y="15841"/>
                  </a:lnTo>
                  <a:lnTo>
                    <a:pt x="78790" y="10146"/>
                  </a:lnTo>
                  <a:lnTo>
                    <a:pt x="73933" y="0"/>
                  </a:lnTo>
                  <a:lnTo>
                    <a:pt x="85511" y="0"/>
                  </a:lnTo>
                  <a:lnTo>
                    <a:pt x="91354" y="6339"/>
                  </a:lnTo>
                  <a:lnTo>
                    <a:pt x="97436" y="11827"/>
                  </a:lnTo>
                  <a:lnTo>
                    <a:pt x="103756" y="16464"/>
                  </a:lnTo>
                  <a:lnTo>
                    <a:pt x="110315" y="20250"/>
                  </a:lnTo>
                  <a:lnTo>
                    <a:pt x="110315" y="26581"/>
                  </a:lnTo>
                  <a:lnTo>
                    <a:pt x="103756" y="30367"/>
                  </a:lnTo>
                  <a:lnTo>
                    <a:pt x="97436" y="35004"/>
                  </a:lnTo>
                  <a:lnTo>
                    <a:pt x="91354" y="40492"/>
                  </a:lnTo>
                  <a:lnTo>
                    <a:pt x="85511" y="46832"/>
                  </a:lnTo>
                  <a:close/>
                </a:path>
              </a:pathLst>
            </a:custGeom>
            <a:solidFill>
              <a:srgbClr val="17C6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119" y="2950435"/>
              <a:ext cx="91344" cy="913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119" y="3516772"/>
              <a:ext cx="91344" cy="913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119" y="4083110"/>
              <a:ext cx="91344" cy="913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119" y="4649447"/>
              <a:ext cx="91344" cy="913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119" y="5215784"/>
              <a:ext cx="91344" cy="9134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338944" y="1589018"/>
            <a:ext cx="5180330" cy="3947160"/>
            <a:chOff x="6338944" y="1589018"/>
            <a:chExt cx="5180330" cy="3947160"/>
          </a:xfrm>
        </p:grpSpPr>
        <p:sp>
          <p:nvSpPr>
            <p:cNvPr id="14" name="object 14"/>
            <p:cNvSpPr/>
            <p:nvPr/>
          </p:nvSpPr>
          <p:spPr>
            <a:xfrm>
              <a:off x="6348459" y="1598533"/>
              <a:ext cx="5161280" cy="3928110"/>
            </a:xfrm>
            <a:custGeom>
              <a:avLst/>
              <a:gdLst/>
              <a:ahLst/>
              <a:cxnLst/>
              <a:rect l="l" t="t" r="r" b="b"/>
              <a:pathLst>
                <a:path w="5161280" h="3928110">
                  <a:moveTo>
                    <a:pt x="5106185" y="3927824"/>
                  </a:moveTo>
                  <a:lnTo>
                    <a:pt x="54793" y="3927824"/>
                  </a:lnTo>
                  <a:lnTo>
                    <a:pt x="33465" y="3923518"/>
                  </a:lnTo>
                  <a:lnTo>
                    <a:pt x="16048" y="3911775"/>
                  </a:lnTo>
                  <a:lnTo>
                    <a:pt x="4305" y="3894358"/>
                  </a:lnTo>
                  <a:lnTo>
                    <a:pt x="0" y="3873030"/>
                  </a:lnTo>
                  <a:lnTo>
                    <a:pt x="0" y="54793"/>
                  </a:lnTo>
                  <a:lnTo>
                    <a:pt x="4305" y="33465"/>
                  </a:lnTo>
                  <a:lnTo>
                    <a:pt x="16048" y="16048"/>
                  </a:lnTo>
                  <a:lnTo>
                    <a:pt x="33465" y="4305"/>
                  </a:lnTo>
                  <a:lnTo>
                    <a:pt x="54793" y="0"/>
                  </a:lnTo>
                  <a:lnTo>
                    <a:pt x="5106185" y="0"/>
                  </a:lnTo>
                  <a:lnTo>
                    <a:pt x="5144930" y="16048"/>
                  </a:lnTo>
                  <a:lnTo>
                    <a:pt x="5160978" y="54793"/>
                  </a:lnTo>
                  <a:lnTo>
                    <a:pt x="5160978" y="3873030"/>
                  </a:lnTo>
                  <a:lnTo>
                    <a:pt x="5156672" y="3894358"/>
                  </a:lnTo>
                  <a:lnTo>
                    <a:pt x="5144929" y="3911775"/>
                  </a:lnTo>
                  <a:lnTo>
                    <a:pt x="5127513" y="3923518"/>
                  </a:lnTo>
                  <a:lnTo>
                    <a:pt x="5106185" y="3927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348459" y="1598533"/>
              <a:ext cx="5161280" cy="3928110"/>
            </a:xfrm>
            <a:custGeom>
              <a:avLst/>
              <a:gdLst/>
              <a:ahLst/>
              <a:cxnLst/>
              <a:rect l="l" t="t" r="r" b="b"/>
              <a:pathLst>
                <a:path w="5161280" h="3928110">
                  <a:moveTo>
                    <a:pt x="0" y="54793"/>
                  </a:moveTo>
                  <a:lnTo>
                    <a:pt x="4305" y="33465"/>
                  </a:lnTo>
                  <a:lnTo>
                    <a:pt x="16048" y="16048"/>
                  </a:lnTo>
                  <a:lnTo>
                    <a:pt x="33465" y="4305"/>
                  </a:lnTo>
                  <a:lnTo>
                    <a:pt x="54793" y="0"/>
                  </a:lnTo>
                  <a:lnTo>
                    <a:pt x="5106185" y="0"/>
                  </a:lnTo>
                  <a:lnTo>
                    <a:pt x="5144930" y="16048"/>
                  </a:lnTo>
                  <a:lnTo>
                    <a:pt x="5160978" y="54793"/>
                  </a:lnTo>
                  <a:lnTo>
                    <a:pt x="5160978" y="3873030"/>
                  </a:lnTo>
                  <a:lnTo>
                    <a:pt x="5156672" y="3894358"/>
                  </a:lnTo>
                  <a:lnTo>
                    <a:pt x="5144929" y="3911775"/>
                  </a:lnTo>
                  <a:lnTo>
                    <a:pt x="5127513" y="3923518"/>
                  </a:lnTo>
                  <a:lnTo>
                    <a:pt x="5106185" y="3927824"/>
                  </a:lnTo>
                  <a:lnTo>
                    <a:pt x="54793" y="3927824"/>
                  </a:lnTo>
                  <a:lnTo>
                    <a:pt x="33465" y="3923518"/>
                  </a:lnTo>
                  <a:lnTo>
                    <a:pt x="16048" y="3911775"/>
                  </a:lnTo>
                  <a:lnTo>
                    <a:pt x="4305" y="3894358"/>
                  </a:lnTo>
                  <a:lnTo>
                    <a:pt x="0" y="3873030"/>
                  </a:lnTo>
                  <a:lnTo>
                    <a:pt x="0" y="54793"/>
                  </a:lnTo>
                  <a:close/>
                </a:path>
              </a:pathLst>
            </a:custGeom>
            <a:ln w="19030">
              <a:solidFill>
                <a:srgbClr val="F1A8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94080" y="2020685"/>
              <a:ext cx="110489" cy="46990"/>
            </a:xfrm>
            <a:custGeom>
              <a:avLst/>
              <a:gdLst/>
              <a:ahLst/>
              <a:cxnLst/>
              <a:rect l="l" t="t" r="r" b="b"/>
              <a:pathLst>
                <a:path w="110490" h="46989">
                  <a:moveTo>
                    <a:pt x="85511" y="46832"/>
                  </a:moveTo>
                  <a:lnTo>
                    <a:pt x="73933" y="46832"/>
                  </a:lnTo>
                  <a:lnTo>
                    <a:pt x="78790" y="36685"/>
                  </a:lnTo>
                  <a:lnTo>
                    <a:pt x="81739" y="30990"/>
                  </a:lnTo>
                  <a:lnTo>
                    <a:pt x="82779" y="29747"/>
                  </a:lnTo>
                  <a:lnTo>
                    <a:pt x="0" y="29747"/>
                  </a:lnTo>
                  <a:lnTo>
                    <a:pt x="0" y="17085"/>
                  </a:lnTo>
                  <a:lnTo>
                    <a:pt x="82779" y="17085"/>
                  </a:lnTo>
                  <a:lnTo>
                    <a:pt x="81739" y="15841"/>
                  </a:lnTo>
                  <a:lnTo>
                    <a:pt x="78790" y="10146"/>
                  </a:lnTo>
                  <a:lnTo>
                    <a:pt x="73933" y="0"/>
                  </a:lnTo>
                  <a:lnTo>
                    <a:pt x="85511" y="0"/>
                  </a:lnTo>
                  <a:lnTo>
                    <a:pt x="91354" y="6339"/>
                  </a:lnTo>
                  <a:lnTo>
                    <a:pt x="97436" y="11827"/>
                  </a:lnTo>
                  <a:lnTo>
                    <a:pt x="103756" y="16464"/>
                  </a:lnTo>
                  <a:lnTo>
                    <a:pt x="110315" y="20250"/>
                  </a:lnTo>
                  <a:lnTo>
                    <a:pt x="110315" y="26581"/>
                  </a:lnTo>
                  <a:lnTo>
                    <a:pt x="103756" y="30367"/>
                  </a:lnTo>
                  <a:lnTo>
                    <a:pt x="97436" y="35004"/>
                  </a:lnTo>
                  <a:lnTo>
                    <a:pt x="91354" y="40492"/>
                  </a:lnTo>
                  <a:lnTo>
                    <a:pt x="85511" y="46832"/>
                  </a:lnTo>
                  <a:close/>
                </a:path>
              </a:pathLst>
            </a:custGeom>
            <a:solidFill>
              <a:srgbClr val="F1A8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8166" y="2950435"/>
              <a:ext cx="91344" cy="913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8166" y="3516772"/>
              <a:ext cx="91344" cy="913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8166" y="4083110"/>
              <a:ext cx="91344" cy="913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8166" y="4649447"/>
              <a:ext cx="91344" cy="9134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8166" y="5215785"/>
              <a:ext cx="91344" cy="91344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dirty="0"/>
              <a:t>GRAPHICS</a:t>
            </a:r>
            <a:r>
              <a:rPr dirty="0" spc="240"/>
              <a:t> </a:t>
            </a:r>
            <a:r>
              <a:rPr dirty="0" spc="-25"/>
              <a:t>(3D</a:t>
            </a:r>
            <a:r>
              <a:rPr dirty="0"/>
              <a:t>	</a:t>
            </a:r>
            <a:r>
              <a:rPr dirty="0" spc="-25"/>
              <a:t>2D)</a:t>
            </a:r>
          </a:p>
          <a:p>
            <a:pPr marL="12700" marR="5080">
              <a:lnSpc>
                <a:spcPct val="119700"/>
              </a:lnSpc>
              <a:spcBef>
                <a:spcPts val="925"/>
              </a:spcBef>
            </a:pPr>
            <a:r>
              <a:rPr dirty="0" sz="1200" spc="-10" b="0">
                <a:solidFill>
                  <a:srgbClr val="C8D3E3"/>
                </a:solidFill>
                <a:latin typeface="Calibri"/>
                <a:cs typeface="Calibri"/>
              </a:rPr>
              <a:t>Synthesizes</a:t>
            </a:r>
            <a:r>
              <a:rPr dirty="0" sz="1200" spc="-25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C8D3E3"/>
                </a:solidFill>
                <a:latin typeface="Calibri"/>
                <a:cs typeface="Calibri"/>
              </a:rPr>
              <a:t>realistic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image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from</a:t>
            </a:r>
            <a:r>
              <a:rPr dirty="0" sz="1200" spc="-25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known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C8D3E3"/>
                </a:solidFill>
                <a:latin typeface="Calibri"/>
                <a:cs typeface="Calibri"/>
              </a:rPr>
              <a:t>3-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D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model,</a:t>
            </a:r>
            <a:r>
              <a:rPr dirty="0" sz="1200" spc="-25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virtual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C8D3E3"/>
                </a:solidFill>
                <a:latin typeface="Calibri"/>
                <a:cs typeface="Calibri"/>
              </a:rPr>
              <a:t>camera,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and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C8D3E3"/>
                </a:solidFill>
                <a:latin typeface="Calibri"/>
                <a:cs typeface="Calibri"/>
              </a:rPr>
              <a:t>lighting</a:t>
            </a:r>
            <a:r>
              <a:rPr dirty="0" sz="1200" spc="-20" b="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C8D3E3"/>
                </a:solidFill>
                <a:latin typeface="Calibri"/>
                <a:cs typeface="Calibri"/>
              </a:rPr>
              <a:t>setup.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Input: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3-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1200" spc="-2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meshes,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textures,</a:t>
            </a:r>
            <a:r>
              <a:rPr dirty="0" sz="1200" spc="-2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lights,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virtual</a:t>
            </a:r>
            <a:r>
              <a:rPr dirty="0" sz="1200" spc="-2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camera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0">
                <a:solidFill>
                  <a:srgbClr val="FFFFFF"/>
                </a:solidFill>
                <a:latin typeface="Calibri"/>
                <a:cs typeface="Calibri"/>
              </a:rPr>
              <a:t>pose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Output: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rendered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2-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(pixels)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tasks: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rasterization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ray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tracing,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shading,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texturing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200">
              <a:latin typeface="Calibri"/>
              <a:cs typeface="Calibri"/>
            </a:endParaRPr>
          </a:p>
          <a:p>
            <a:pPr marL="240665" marR="255270">
              <a:lnSpc>
                <a:spcPct val="114500"/>
              </a:lnSpc>
            </a:pP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dirty="0" sz="120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20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camera</a:t>
            </a:r>
            <a:r>
              <a:rPr dirty="0" sz="120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120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20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projects</a:t>
            </a:r>
            <a:r>
              <a:rPr dirty="0" sz="120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3-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120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r>
              <a:rPr dirty="0" sz="1200" spc="-2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 b="0">
                <a:solidFill>
                  <a:srgbClr val="FFFFFF"/>
                </a:solidFill>
                <a:latin typeface="Calibri"/>
                <a:cs typeface="Calibri"/>
              </a:rPr>
              <a:t>onto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200" spc="-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screen</a:t>
            </a:r>
            <a:endParaRPr sz="1200">
              <a:latin typeface="Calibri"/>
              <a:cs typeface="Calibri"/>
            </a:endParaRPr>
          </a:p>
          <a:p>
            <a:pPr marL="240665" marR="269875">
              <a:lnSpc>
                <a:spcPct val="114500"/>
              </a:lnSpc>
              <a:spcBef>
                <a:spcPts val="1165"/>
              </a:spcBef>
            </a:pP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Goal:</a:t>
            </a:r>
            <a:r>
              <a:rPr dirty="0" sz="1200" spc="-2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1200" spc="-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200" spc="-2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virtual</a:t>
            </a:r>
            <a:r>
              <a:rPr dirty="0" sz="1200" spc="-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dirty="0" sz="1200" spc="-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look</a:t>
            </a:r>
            <a:r>
              <a:rPr dirty="0" sz="1200" spc="-2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photorealistic</a:t>
            </a:r>
            <a:r>
              <a:rPr dirty="0" sz="1200" spc="-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1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FFFFFF"/>
                </a:solidFill>
                <a:latin typeface="Calibri"/>
                <a:cs typeface="Calibri"/>
              </a:rPr>
              <a:t>correctly placed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3" name="object 23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28395" algn="l"/>
              </a:tabLst>
            </a:pPr>
            <a:r>
              <a:rPr dirty="0"/>
              <a:t>VISION</a:t>
            </a:r>
            <a:r>
              <a:rPr dirty="0" spc="250"/>
              <a:t> </a:t>
            </a:r>
            <a:r>
              <a:rPr dirty="0" spc="-25"/>
              <a:t>(2D</a:t>
            </a:r>
            <a:r>
              <a:rPr dirty="0"/>
              <a:t>	</a:t>
            </a:r>
            <a:r>
              <a:rPr dirty="0" spc="-25"/>
              <a:t>3D)</a:t>
            </a:r>
          </a:p>
          <a:p>
            <a:pPr marL="12700" marR="13335">
              <a:lnSpc>
                <a:spcPct val="119700"/>
              </a:lnSpc>
              <a:spcBef>
                <a:spcPts val="925"/>
              </a:spcBef>
            </a:pPr>
            <a:r>
              <a:rPr dirty="0" sz="1200" spc="-10" b="0">
                <a:solidFill>
                  <a:srgbClr val="586686"/>
                </a:solidFill>
                <a:latin typeface="Calibri"/>
                <a:cs typeface="Calibri"/>
              </a:rPr>
              <a:t>Interprets</a:t>
            </a:r>
            <a:r>
              <a:rPr dirty="0" sz="1200" spc="-25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586686"/>
                </a:solidFill>
                <a:latin typeface="Calibri"/>
                <a:cs typeface="Calibri"/>
              </a:rPr>
              <a:t>camera</a:t>
            </a:r>
            <a:r>
              <a:rPr dirty="0" sz="1200" spc="-25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586686"/>
                </a:solidFill>
                <a:latin typeface="Calibri"/>
                <a:cs typeface="Calibri"/>
              </a:rPr>
              <a:t>frames</a:t>
            </a:r>
            <a:r>
              <a:rPr dirty="0" sz="1200" spc="-25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586686"/>
                </a:solidFill>
                <a:latin typeface="Calibri"/>
                <a:cs typeface="Calibri"/>
              </a:rPr>
              <a:t>to</a:t>
            </a:r>
            <a:r>
              <a:rPr dirty="0" sz="1200" spc="-20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586686"/>
                </a:solidFill>
                <a:latin typeface="Calibri"/>
                <a:cs typeface="Calibri"/>
              </a:rPr>
              <a:t>infer</a:t>
            </a:r>
            <a:r>
              <a:rPr dirty="0" sz="1200" spc="-25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586686"/>
                </a:solidFill>
                <a:latin typeface="Calibri"/>
                <a:cs typeface="Calibri"/>
              </a:rPr>
              <a:t>structure</a:t>
            </a:r>
            <a:r>
              <a:rPr dirty="0" sz="1200" spc="-25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586686"/>
                </a:solidFill>
                <a:latin typeface="Calibri"/>
                <a:cs typeface="Calibri"/>
              </a:rPr>
              <a:t>and</a:t>
            </a:r>
            <a:r>
              <a:rPr dirty="0" sz="1200" spc="-25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586686"/>
                </a:solidFill>
                <a:latin typeface="Calibri"/>
                <a:cs typeface="Calibri"/>
              </a:rPr>
              <a:t>meaning</a:t>
            </a:r>
            <a:r>
              <a:rPr dirty="0" sz="1200" spc="-20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586686"/>
                </a:solidFill>
                <a:latin typeface="Calibri"/>
                <a:cs typeface="Calibri"/>
              </a:rPr>
              <a:t>about</a:t>
            </a:r>
            <a:r>
              <a:rPr dirty="0" sz="1200" spc="-25" b="0">
                <a:solidFill>
                  <a:srgbClr val="586686"/>
                </a:solidFill>
                <a:latin typeface="Calibri"/>
                <a:cs typeface="Calibri"/>
              </a:rPr>
              <a:t> the </a:t>
            </a:r>
            <a:r>
              <a:rPr dirty="0" sz="1200" b="0">
                <a:solidFill>
                  <a:srgbClr val="586686"/>
                </a:solidFill>
                <a:latin typeface="Calibri"/>
                <a:cs typeface="Calibri"/>
              </a:rPr>
              <a:t>real</a:t>
            </a:r>
            <a:r>
              <a:rPr dirty="0" sz="1200" spc="-45" b="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586686"/>
                </a:solidFill>
                <a:latin typeface="Calibri"/>
                <a:cs typeface="Calibri"/>
              </a:rPr>
              <a:t>world.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Input: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real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camera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frames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/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video,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sensor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20" b="0">
                <a:solidFill>
                  <a:srgbClr val="16203D"/>
                </a:solidFill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Output: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pose,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depth,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feature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points,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object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labels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200">
              <a:latin typeface="Calibri"/>
              <a:cs typeface="Calibri"/>
            </a:endParaRPr>
          </a:p>
          <a:p>
            <a:pPr marL="240665" marR="535305">
              <a:lnSpc>
                <a:spcPct val="114500"/>
              </a:lnSpc>
            </a:pP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Core</a:t>
            </a:r>
            <a:r>
              <a:rPr dirty="0" sz="1200" spc="-4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tasks:</a:t>
            </a:r>
            <a:r>
              <a:rPr dirty="0" sz="1200" spc="-3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feature</a:t>
            </a:r>
            <a:r>
              <a:rPr dirty="0" sz="1200" spc="-3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detection,</a:t>
            </a:r>
            <a:r>
              <a:rPr dirty="0" sz="1200" spc="-3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SLAM,</a:t>
            </a:r>
            <a:r>
              <a:rPr dirty="0" sz="1200" spc="-3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depth</a:t>
            </a:r>
            <a:r>
              <a:rPr dirty="0" sz="1200" spc="-3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estimation, segmentation</a:t>
            </a:r>
            <a:endParaRPr sz="1200">
              <a:latin typeface="Calibri"/>
              <a:cs typeface="Calibri"/>
            </a:endParaRPr>
          </a:p>
          <a:p>
            <a:pPr marL="240665" marR="5080">
              <a:lnSpc>
                <a:spcPct val="114500"/>
              </a:lnSpc>
              <a:spcBef>
                <a:spcPts val="1165"/>
              </a:spcBef>
            </a:pP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Uses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the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camera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model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INVERSE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—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recovers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3-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D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pose</a:t>
            </a:r>
            <a:r>
              <a:rPr dirty="0" sz="1200" spc="-2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from</a:t>
            </a:r>
            <a:r>
              <a:rPr dirty="0" sz="1200" spc="-3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2-</a:t>
            </a:r>
            <a:r>
              <a:rPr dirty="0" sz="1200" spc="-50" b="0">
                <a:solidFill>
                  <a:srgbClr val="16203D"/>
                </a:solidFill>
                <a:latin typeface="Calibri"/>
                <a:cs typeface="Calibri"/>
              </a:rPr>
              <a:t>D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pixels</a:t>
            </a:r>
            <a:endParaRPr sz="1200">
              <a:latin typeface="Calibri"/>
              <a:cs typeface="Calibri"/>
            </a:endParaRPr>
          </a:p>
          <a:p>
            <a:pPr marL="240665" marR="42545">
              <a:lnSpc>
                <a:spcPct val="114500"/>
              </a:lnSpc>
              <a:spcBef>
                <a:spcPts val="1160"/>
              </a:spcBef>
            </a:pP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Goal: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understand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where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the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phone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and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surfaces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are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in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16203D"/>
                </a:solidFill>
                <a:latin typeface="Calibri"/>
                <a:cs typeface="Calibri"/>
              </a:rPr>
              <a:t>the</a:t>
            </a:r>
            <a:r>
              <a:rPr dirty="0" sz="1200" spc="-15" b="0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200" spc="-20" b="0">
                <a:solidFill>
                  <a:srgbClr val="16203D"/>
                </a:solidFill>
                <a:latin typeface="Calibri"/>
                <a:cs typeface="Calibri"/>
              </a:rPr>
              <a:t>real </a:t>
            </a:r>
            <a:r>
              <a:rPr dirty="0" sz="1200" spc="-10" b="0">
                <a:solidFill>
                  <a:srgbClr val="16203D"/>
                </a:solidFill>
                <a:latin typeface="Calibri"/>
                <a:cs typeface="Calibri"/>
              </a:rPr>
              <a:t>world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9413" y="411051"/>
            <a:ext cx="822325" cy="822325"/>
          </a:xfrm>
          <a:prstGeom prst="rect">
            <a:avLst/>
          </a:prstGeom>
          <a:solidFill>
            <a:srgbClr val="F1A83B"/>
          </a:solidFill>
        </p:spPr>
        <p:txBody>
          <a:bodyPr wrap="square" lIns="0" tIns="1949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535"/>
              </a:spcBef>
            </a:pPr>
            <a:r>
              <a:rPr dirty="0" sz="2600" spc="-50" b="1">
                <a:solidFill>
                  <a:srgbClr val="0D1B33"/>
                </a:solidFill>
                <a:latin typeface="Calibri"/>
                <a:cs typeface="Calibri"/>
              </a:rPr>
              <a:t>B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FFFF"/>
                </a:solidFill>
              </a:rPr>
              <a:t>The</a:t>
            </a:r>
            <a:r>
              <a:rPr dirty="0" sz="2500" spc="-70">
                <a:solidFill>
                  <a:srgbClr val="FFFFFF"/>
                </a:solidFill>
              </a:rPr>
              <a:t> </a:t>
            </a:r>
            <a:r>
              <a:rPr dirty="0" sz="2500" spc="-10">
                <a:solidFill>
                  <a:srgbClr val="FFFFFF"/>
                </a:solidFill>
              </a:rPr>
              <a:t>Camera</a:t>
            </a:r>
            <a:r>
              <a:rPr dirty="0" sz="2500" spc="-70">
                <a:solidFill>
                  <a:srgbClr val="FFFFFF"/>
                </a:solidFill>
              </a:rPr>
              <a:t> </a:t>
            </a:r>
            <a:r>
              <a:rPr dirty="0" sz="2500">
                <a:solidFill>
                  <a:srgbClr val="FFFFFF"/>
                </a:solidFill>
              </a:rPr>
              <a:t>Model:</a:t>
            </a:r>
            <a:r>
              <a:rPr dirty="0" sz="2500" spc="-70">
                <a:solidFill>
                  <a:srgbClr val="FFFFFF"/>
                </a:solidFill>
              </a:rPr>
              <a:t> </a:t>
            </a:r>
            <a:r>
              <a:rPr dirty="0" sz="2500">
                <a:solidFill>
                  <a:srgbClr val="FFFFFF"/>
                </a:solidFill>
              </a:rPr>
              <a:t>The</a:t>
            </a:r>
            <a:r>
              <a:rPr dirty="0" sz="2500" spc="-70">
                <a:solidFill>
                  <a:srgbClr val="FFFFFF"/>
                </a:solidFill>
              </a:rPr>
              <a:t> </a:t>
            </a:r>
            <a:r>
              <a:rPr dirty="0" sz="2500">
                <a:solidFill>
                  <a:srgbClr val="FFFFFF"/>
                </a:solidFill>
              </a:rPr>
              <a:t>Shared</a:t>
            </a:r>
            <a:r>
              <a:rPr dirty="0" sz="2500" spc="-70">
                <a:solidFill>
                  <a:srgbClr val="FFFFFF"/>
                </a:solidFill>
              </a:rPr>
              <a:t> </a:t>
            </a:r>
            <a:r>
              <a:rPr dirty="0" sz="2500" spc="-10">
                <a:solidFill>
                  <a:srgbClr val="FFFFFF"/>
                </a:solidFill>
              </a:rPr>
              <a:t>Bridge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1768507" y="1014928"/>
            <a:ext cx="5713730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Both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C8D3E3"/>
                </a:solidFill>
                <a:latin typeface="Calibri"/>
                <a:cs typeface="Calibri"/>
              </a:rPr>
              <a:t>pipelines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rely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on</a:t>
            </a:r>
            <a:r>
              <a:rPr dirty="0" sz="1350" spc="-25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ONE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C8D3E3"/>
                </a:solidFill>
                <a:latin typeface="Calibri"/>
                <a:cs typeface="Calibri"/>
              </a:rPr>
              <a:t>mathematical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model</a:t>
            </a:r>
            <a:r>
              <a:rPr dirty="0" sz="1350" spc="-25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of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how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camera</a:t>
            </a:r>
            <a:r>
              <a:rPr dirty="0" sz="1350" spc="-25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sees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350" spc="-30" i="1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C8D3E3"/>
                </a:solidFill>
                <a:latin typeface="Calibri"/>
                <a:cs typeface="Calibri"/>
              </a:rPr>
              <a:t>world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3063" y="1683527"/>
            <a:ext cx="5128260" cy="3575685"/>
            <a:chOff x="633063" y="1683527"/>
            <a:chExt cx="5128260" cy="3575685"/>
          </a:xfrm>
        </p:grpSpPr>
        <p:sp>
          <p:nvSpPr>
            <p:cNvPr id="6" name="object 6"/>
            <p:cNvSpPr/>
            <p:nvPr/>
          </p:nvSpPr>
          <p:spPr>
            <a:xfrm>
              <a:off x="639413" y="1689877"/>
              <a:ext cx="5115560" cy="3562985"/>
            </a:xfrm>
            <a:custGeom>
              <a:avLst/>
              <a:gdLst/>
              <a:ahLst/>
              <a:cxnLst/>
              <a:rect l="l" t="t" r="r" b="b"/>
              <a:pathLst>
                <a:path w="5115560" h="3562985">
                  <a:moveTo>
                    <a:pt x="5060515" y="3562445"/>
                  </a:moveTo>
                  <a:lnTo>
                    <a:pt x="54790" y="3562445"/>
                  </a:lnTo>
                  <a:lnTo>
                    <a:pt x="33463" y="3558139"/>
                  </a:lnTo>
                  <a:lnTo>
                    <a:pt x="16047" y="3546397"/>
                  </a:lnTo>
                  <a:lnTo>
                    <a:pt x="4305" y="3528981"/>
                  </a:lnTo>
                  <a:lnTo>
                    <a:pt x="0" y="3507654"/>
                  </a:lnTo>
                  <a:lnTo>
                    <a:pt x="0" y="54790"/>
                  </a:lnTo>
                  <a:lnTo>
                    <a:pt x="4305" y="33463"/>
                  </a:lnTo>
                  <a:lnTo>
                    <a:pt x="16047" y="16047"/>
                  </a:lnTo>
                  <a:lnTo>
                    <a:pt x="33463" y="4305"/>
                  </a:lnTo>
                  <a:lnTo>
                    <a:pt x="54790" y="0"/>
                  </a:lnTo>
                  <a:lnTo>
                    <a:pt x="5060515" y="0"/>
                  </a:lnTo>
                  <a:lnTo>
                    <a:pt x="5099258" y="16047"/>
                  </a:lnTo>
                  <a:lnTo>
                    <a:pt x="5115305" y="54790"/>
                  </a:lnTo>
                  <a:lnTo>
                    <a:pt x="5115305" y="3507654"/>
                  </a:lnTo>
                  <a:lnTo>
                    <a:pt x="5111000" y="3528981"/>
                  </a:lnTo>
                  <a:lnTo>
                    <a:pt x="5099258" y="3546397"/>
                  </a:lnTo>
                  <a:lnTo>
                    <a:pt x="5081842" y="3558139"/>
                  </a:lnTo>
                  <a:lnTo>
                    <a:pt x="5060515" y="3562445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9413" y="1689877"/>
              <a:ext cx="5115560" cy="3562985"/>
            </a:xfrm>
            <a:custGeom>
              <a:avLst/>
              <a:gdLst/>
              <a:ahLst/>
              <a:cxnLst/>
              <a:rect l="l" t="t" r="r" b="b"/>
              <a:pathLst>
                <a:path w="5115560" h="3562985">
                  <a:moveTo>
                    <a:pt x="0" y="54790"/>
                  </a:moveTo>
                  <a:lnTo>
                    <a:pt x="4305" y="33463"/>
                  </a:lnTo>
                  <a:lnTo>
                    <a:pt x="16047" y="16047"/>
                  </a:lnTo>
                  <a:lnTo>
                    <a:pt x="33463" y="4305"/>
                  </a:lnTo>
                  <a:lnTo>
                    <a:pt x="54790" y="0"/>
                  </a:lnTo>
                  <a:lnTo>
                    <a:pt x="5060515" y="0"/>
                  </a:lnTo>
                  <a:lnTo>
                    <a:pt x="5099258" y="16047"/>
                  </a:lnTo>
                  <a:lnTo>
                    <a:pt x="5115305" y="54790"/>
                  </a:lnTo>
                  <a:lnTo>
                    <a:pt x="5115305" y="3507654"/>
                  </a:lnTo>
                  <a:lnTo>
                    <a:pt x="5111000" y="3528981"/>
                  </a:lnTo>
                  <a:lnTo>
                    <a:pt x="5099258" y="3546397"/>
                  </a:lnTo>
                  <a:lnTo>
                    <a:pt x="5081842" y="3558139"/>
                  </a:lnTo>
                  <a:lnTo>
                    <a:pt x="5060515" y="3562445"/>
                  </a:lnTo>
                  <a:lnTo>
                    <a:pt x="54790" y="3562445"/>
                  </a:lnTo>
                  <a:lnTo>
                    <a:pt x="33463" y="3558139"/>
                  </a:lnTo>
                  <a:lnTo>
                    <a:pt x="16047" y="3546397"/>
                  </a:lnTo>
                  <a:lnTo>
                    <a:pt x="4305" y="3528981"/>
                  </a:lnTo>
                  <a:lnTo>
                    <a:pt x="0" y="3507654"/>
                  </a:lnTo>
                  <a:lnTo>
                    <a:pt x="0" y="54790"/>
                  </a:lnTo>
                  <a:close/>
                </a:path>
              </a:pathLst>
            </a:custGeom>
            <a:ln w="12686">
              <a:solidFill>
                <a:srgbClr val="263A6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2077" y="1931547"/>
            <a:ext cx="1704339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17C6C6"/>
                </a:solidFill>
                <a:latin typeface="Calibri"/>
                <a:cs typeface="Calibri"/>
              </a:rPr>
              <a:t>Pinhole</a:t>
            </a:r>
            <a:r>
              <a:rPr dirty="0" sz="1400" spc="-60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7C6C6"/>
                </a:solidFill>
                <a:latin typeface="Calibri"/>
                <a:cs typeface="Calibri"/>
              </a:rPr>
              <a:t>Camera</a:t>
            </a:r>
            <a:r>
              <a:rPr dirty="0" sz="1400" spc="-60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17C6C6"/>
                </a:solidFill>
                <a:latin typeface="Calibri"/>
                <a:cs typeface="Calibri"/>
              </a:rPr>
              <a:t>Model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136" y="2694670"/>
            <a:ext cx="200958" cy="2009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55060" y="2969642"/>
            <a:ext cx="75946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8D3E3"/>
                </a:solidFill>
                <a:latin typeface="Calibri"/>
                <a:cs typeface="Calibri"/>
              </a:rPr>
              <a:t>3D</a:t>
            </a:r>
            <a:r>
              <a:rPr dirty="0" sz="95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8D3E3"/>
                </a:solidFill>
                <a:latin typeface="Calibri"/>
                <a:cs typeface="Calibri"/>
              </a:rPr>
              <a:t>point</a:t>
            </a:r>
            <a:r>
              <a:rPr dirty="0" sz="950" spc="-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C8D3E3"/>
                </a:solidFill>
                <a:latin typeface="Calibri"/>
                <a:cs typeface="Calibri"/>
              </a:rPr>
              <a:t>(X,Y,Z)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8704" y="3653789"/>
            <a:ext cx="146151" cy="14615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681955" y="3928762"/>
            <a:ext cx="7423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8D3E3"/>
                </a:solidFill>
                <a:latin typeface="Calibri"/>
                <a:cs typeface="Calibri"/>
              </a:rPr>
              <a:t>Camera</a:t>
            </a:r>
            <a:r>
              <a:rPr dirty="0" sz="950" spc="-5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8D3E3"/>
                </a:solidFill>
                <a:latin typeface="Calibri"/>
                <a:cs typeface="Calibri"/>
              </a:rPr>
              <a:t>center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82151" y="2557652"/>
            <a:ext cx="45720" cy="2284095"/>
          </a:xfrm>
          <a:custGeom>
            <a:avLst/>
            <a:gdLst/>
            <a:ahLst/>
            <a:cxnLst/>
            <a:rect l="l" t="t" r="r" b="b"/>
            <a:pathLst>
              <a:path w="45720" h="2284095">
                <a:moveTo>
                  <a:pt x="45672" y="2283618"/>
                </a:moveTo>
                <a:lnTo>
                  <a:pt x="0" y="2283618"/>
                </a:lnTo>
                <a:lnTo>
                  <a:pt x="0" y="0"/>
                </a:lnTo>
                <a:lnTo>
                  <a:pt x="45672" y="0"/>
                </a:lnTo>
                <a:lnTo>
                  <a:pt x="45672" y="2283618"/>
                </a:lnTo>
                <a:close/>
              </a:path>
            </a:pathLst>
          </a:custGeom>
          <a:solidFill>
            <a:srgbClr val="17C6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778091" y="4933554"/>
            <a:ext cx="6248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8D3E3"/>
                </a:solidFill>
                <a:latin typeface="Calibri"/>
                <a:cs typeface="Calibri"/>
              </a:rPr>
              <a:t>Image</a:t>
            </a:r>
            <a:r>
              <a:rPr dirty="0" sz="950" spc="-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8D3E3"/>
                </a:solidFill>
                <a:latin typeface="Calibri"/>
                <a:cs typeface="Calibri"/>
              </a:rPr>
              <a:t>plane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84678" y="2780324"/>
            <a:ext cx="4397375" cy="2356485"/>
            <a:chOff x="1184678" y="2780324"/>
            <a:chExt cx="4397375" cy="235648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3882" y="3379755"/>
              <a:ext cx="137016" cy="1370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84668" y="2780334"/>
              <a:ext cx="4211320" cy="2356485"/>
            </a:xfrm>
            <a:custGeom>
              <a:avLst/>
              <a:gdLst/>
              <a:ahLst/>
              <a:cxnLst/>
              <a:rect l="l" t="t" r="r" b="b"/>
              <a:pathLst>
                <a:path w="4211320" h="2356485">
                  <a:moveTo>
                    <a:pt x="51130" y="22415"/>
                  </a:moveTo>
                  <a:lnTo>
                    <a:pt x="5613" y="0"/>
                  </a:lnTo>
                  <a:lnTo>
                    <a:pt x="0" y="11379"/>
                  </a:lnTo>
                  <a:lnTo>
                    <a:pt x="45529" y="33807"/>
                  </a:lnTo>
                  <a:lnTo>
                    <a:pt x="51130" y="22415"/>
                  </a:lnTo>
                  <a:close/>
                </a:path>
                <a:path w="4211320" h="2356485">
                  <a:moveTo>
                    <a:pt x="130797" y="61671"/>
                  </a:moveTo>
                  <a:lnTo>
                    <a:pt x="85280" y="39243"/>
                  </a:lnTo>
                  <a:lnTo>
                    <a:pt x="79667" y="50622"/>
                  </a:lnTo>
                  <a:lnTo>
                    <a:pt x="125196" y="73050"/>
                  </a:lnTo>
                  <a:lnTo>
                    <a:pt x="130797" y="61671"/>
                  </a:lnTo>
                  <a:close/>
                </a:path>
                <a:path w="4211320" h="2356485">
                  <a:moveTo>
                    <a:pt x="210464" y="100914"/>
                  </a:moveTo>
                  <a:lnTo>
                    <a:pt x="164947" y="78486"/>
                  </a:lnTo>
                  <a:lnTo>
                    <a:pt x="159334" y="89865"/>
                  </a:lnTo>
                  <a:lnTo>
                    <a:pt x="204863" y="112293"/>
                  </a:lnTo>
                  <a:lnTo>
                    <a:pt x="210464" y="100914"/>
                  </a:lnTo>
                  <a:close/>
                </a:path>
                <a:path w="4211320" h="2356485">
                  <a:moveTo>
                    <a:pt x="290131" y="140157"/>
                  </a:moveTo>
                  <a:lnTo>
                    <a:pt x="244602" y="117729"/>
                  </a:lnTo>
                  <a:lnTo>
                    <a:pt x="239001" y="129108"/>
                  </a:lnTo>
                  <a:lnTo>
                    <a:pt x="284518" y="151536"/>
                  </a:lnTo>
                  <a:lnTo>
                    <a:pt x="290131" y="140157"/>
                  </a:lnTo>
                  <a:close/>
                </a:path>
                <a:path w="4211320" h="2356485">
                  <a:moveTo>
                    <a:pt x="369798" y="179400"/>
                  </a:moveTo>
                  <a:lnTo>
                    <a:pt x="324269" y="156972"/>
                  </a:lnTo>
                  <a:lnTo>
                    <a:pt x="318668" y="168351"/>
                  </a:lnTo>
                  <a:lnTo>
                    <a:pt x="364185" y="190779"/>
                  </a:lnTo>
                  <a:lnTo>
                    <a:pt x="369798" y="179400"/>
                  </a:lnTo>
                  <a:close/>
                </a:path>
                <a:path w="4211320" h="2356485">
                  <a:moveTo>
                    <a:pt x="449465" y="218643"/>
                  </a:moveTo>
                  <a:lnTo>
                    <a:pt x="403936" y="196215"/>
                  </a:lnTo>
                  <a:lnTo>
                    <a:pt x="398335" y="207594"/>
                  </a:lnTo>
                  <a:lnTo>
                    <a:pt x="443852" y="230022"/>
                  </a:lnTo>
                  <a:lnTo>
                    <a:pt x="449465" y="218643"/>
                  </a:lnTo>
                  <a:close/>
                </a:path>
                <a:path w="4211320" h="2356485">
                  <a:moveTo>
                    <a:pt x="529132" y="257886"/>
                  </a:moveTo>
                  <a:lnTo>
                    <a:pt x="483603" y="235458"/>
                  </a:lnTo>
                  <a:lnTo>
                    <a:pt x="478002" y="246837"/>
                  </a:lnTo>
                  <a:lnTo>
                    <a:pt x="523519" y="269265"/>
                  </a:lnTo>
                  <a:lnTo>
                    <a:pt x="529132" y="257886"/>
                  </a:lnTo>
                  <a:close/>
                </a:path>
                <a:path w="4211320" h="2356485">
                  <a:moveTo>
                    <a:pt x="608799" y="297129"/>
                  </a:moveTo>
                  <a:lnTo>
                    <a:pt x="563270" y="274701"/>
                  </a:lnTo>
                  <a:lnTo>
                    <a:pt x="557669" y="286080"/>
                  </a:lnTo>
                  <a:lnTo>
                    <a:pt x="603186" y="308508"/>
                  </a:lnTo>
                  <a:lnTo>
                    <a:pt x="608799" y="297129"/>
                  </a:lnTo>
                  <a:close/>
                </a:path>
                <a:path w="4211320" h="2356485">
                  <a:moveTo>
                    <a:pt x="688454" y="336372"/>
                  </a:moveTo>
                  <a:lnTo>
                    <a:pt x="642937" y="313944"/>
                  </a:lnTo>
                  <a:lnTo>
                    <a:pt x="637324" y="325335"/>
                  </a:lnTo>
                  <a:lnTo>
                    <a:pt x="682853" y="347751"/>
                  </a:lnTo>
                  <a:lnTo>
                    <a:pt x="688454" y="336372"/>
                  </a:lnTo>
                  <a:close/>
                </a:path>
                <a:path w="4211320" h="2356485">
                  <a:moveTo>
                    <a:pt x="768121" y="375615"/>
                  </a:moveTo>
                  <a:lnTo>
                    <a:pt x="722604" y="353199"/>
                  </a:lnTo>
                  <a:lnTo>
                    <a:pt x="716991" y="364578"/>
                  </a:lnTo>
                  <a:lnTo>
                    <a:pt x="762520" y="386994"/>
                  </a:lnTo>
                  <a:lnTo>
                    <a:pt x="768121" y="375615"/>
                  </a:lnTo>
                  <a:close/>
                </a:path>
                <a:path w="4211320" h="2356485">
                  <a:moveTo>
                    <a:pt x="847788" y="414858"/>
                  </a:moveTo>
                  <a:lnTo>
                    <a:pt x="802271" y="392442"/>
                  </a:lnTo>
                  <a:lnTo>
                    <a:pt x="796658" y="403821"/>
                  </a:lnTo>
                  <a:lnTo>
                    <a:pt x="842187" y="426250"/>
                  </a:lnTo>
                  <a:lnTo>
                    <a:pt x="847788" y="414858"/>
                  </a:lnTo>
                  <a:close/>
                </a:path>
                <a:path w="4211320" h="2356485">
                  <a:moveTo>
                    <a:pt x="927455" y="454113"/>
                  </a:moveTo>
                  <a:lnTo>
                    <a:pt x="881938" y="431685"/>
                  </a:lnTo>
                  <a:lnTo>
                    <a:pt x="876325" y="443064"/>
                  </a:lnTo>
                  <a:lnTo>
                    <a:pt x="921854" y="465493"/>
                  </a:lnTo>
                  <a:lnTo>
                    <a:pt x="927455" y="454113"/>
                  </a:lnTo>
                  <a:close/>
                </a:path>
                <a:path w="4211320" h="2356485">
                  <a:moveTo>
                    <a:pt x="1007122" y="493356"/>
                  </a:moveTo>
                  <a:lnTo>
                    <a:pt x="961605" y="470928"/>
                  </a:lnTo>
                  <a:lnTo>
                    <a:pt x="955992" y="482307"/>
                  </a:lnTo>
                  <a:lnTo>
                    <a:pt x="1001522" y="504736"/>
                  </a:lnTo>
                  <a:lnTo>
                    <a:pt x="1007122" y="493356"/>
                  </a:lnTo>
                  <a:close/>
                </a:path>
                <a:path w="4211320" h="2356485">
                  <a:moveTo>
                    <a:pt x="1086789" y="532599"/>
                  </a:moveTo>
                  <a:lnTo>
                    <a:pt x="1041260" y="510171"/>
                  </a:lnTo>
                  <a:lnTo>
                    <a:pt x="1035659" y="521550"/>
                  </a:lnTo>
                  <a:lnTo>
                    <a:pt x="1081176" y="543979"/>
                  </a:lnTo>
                  <a:lnTo>
                    <a:pt x="1086789" y="532599"/>
                  </a:lnTo>
                  <a:close/>
                </a:path>
                <a:path w="4211320" h="2356485">
                  <a:moveTo>
                    <a:pt x="1166456" y="571842"/>
                  </a:moveTo>
                  <a:lnTo>
                    <a:pt x="1120927" y="549414"/>
                  </a:lnTo>
                  <a:lnTo>
                    <a:pt x="1115326" y="560793"/>
                  </a:lnTo>
                  <a:lnTo>
                    <a:pt x="1160843" y="583222"/>
                  </a:lnTo>
                  <a:lnTo>
                    <a:pt x="1166456" y="571842"/>
                  </a:lnTo>
                  <a:close/>
                </a:path>
                <a:path w="4211320" h="2356485">
                  <a:moveTo>
                    <a:pt x="1246124" y="611085"/>
                  </a:moveTo>
                  <a:lnTo>
                    <a:pt x="1200594" y="588657"/>
                  </a:lnTo>
                  <a:lnTo>
                    <a:pt x="1194993" y="600036"/>
                  </a:lnTo>
                  <a:lnTo>
                    <a:pt x="1240510" y="622465"/>
                  </a:lnTo>
                  <a:lnTo>
                    <a:pt x="1246124" y="611085"/>
                  </a:lnTo>
                  <a:close/>
                </a:path>
                <a:path w="4211320" h="2356485">
                  <a:moveTo>
                    <a:pt x="1325791" y="650328"/>
                  </a:moveTo>
                  <a:lnTo>
                    <a:pt x="1280261" y="627900"/>
                  </a:lnTo>
                  <a:lnTo>
                    <a:pt x="1274660" y="639279"/>
                  </a:lnTo>
                  <a:lnTo>
                    <a:pt x="1320177" y="661708"/>
                  </a:lnTo>
                  <a:lnTo>
                    <a:pt x="1325791" y="650328"/>
                  </a:lnTo>
                  <a:close/>
                </a:path>
                <a:path w="4211320" h="2356485">
                  <a:moveTo>
                    <a:pt x="1405458" y="689571"/>
                  </a:moveTo>
                  <a:lnTo>
                    <a:pt x="1359928" y="667143"/>
                  </a:lnTo>
                  <a:lnTo>
                    <a:pt x="1354328" y="678535"/>
                  </a:lnTo>
                  <a:lnTo>
                    <a:pt x="1399844" y="700951"/>
                  </a:lnTo>
                  <a:lnTo>
                    <a:pt x="1405458" y="689571"/>
                  </a:lnTo>
                  <a:close/>
                </a:path>
                <a:path w="4211320" h="2356485">
                  <a:moveTo>
                    <a:pt x="1485112" y="728814"/>
                  </a:moveTo>
                  <a:lnTo>
                    <a:pt x="1439595" y="706386"/>
                  </a:lnTo>
                  <a:lnTo>
                    <a:pt x="1433982" y="717778"/>
                  </a:lnTo>
                  <a:lnTo>
                    <a:pt x="1479511" y="740194"/>
                  </a:lnTo>
                  <a:lnTo>
                    <a:pt x="1485112" y="728814"/>
                  </a:lnTo>
                  <a:close/>
                </a:path>
                <a:path w="4211320" h="2356485">
                  <a:moveTo>
                    <a:pt x="1564779" y="768057"/>
                  </a:moveTo>
                  <a:lnTo>
                    <a:pt x="1519262" y="745642"/>
                  </a:lnTo>
                  <a:lnTo>
                    <a:pt x="1513649" y="757021"/>
                  </a:lnTo>
                  <a:lnTo>
                    <a:pt x="1559179" y="779437"/>
                  </a:lnTo>
                  <a:lnTo>
                    <a:pt x="1564779" y="768057"/>
                  </a:lnTo>
                  <a:close/>
                </a:path>
                <a:path w="4211320" h="2356485">
                  <a:moveTo>
                    <a:pt x="1644446" y="807300"/>
                  </a:moveTo>
                  <a:lnTo>
                    <a:pt x="1598930" y="784885"/>
                  </a:lnTo>
                  <a:lnTo>
                    <a:pt x="1593316" y="796264"/>
                  </a:lnTo>
                  <a:lnTo>
                    <a:pt x="1638846" y="818692"/>
                  </a:lnTo>
                  <a:lnTo>
                    <a:pt x="1644446" y="807300"/>
                  </a:lnTo>
                  <a:close/>
                </a:path>
                <a:path w="4211320" h="2356485">
                  <a:moveTo>
                    <a:pt x="1724113" y="846543"/>
                  </a:moveTo>
                  <a:lnTo>
                    <a:pt x="1678597" y="824128"/>
                  </a:lnTo>
                  <a:lnTo>
                    <a:pt x="1672983" y="835507"/>
                  </a:lnTo>
                  <a:lnTo>
                    <a:pt x="1718513" y="857935"/>
                  </a:lnTo>
                  <a:lnTo>
                    <a:pt x="1724113" y="846543"/>
                  </a:lnTo>
                  <a:close/>
                </a:path>
                <a:path w="4211320" h="2356485">
                  <a:moveTo>
                    <a:pt x="1803781" y="885799"/>
                  </a:moveTo>
                  <a:lnTo>
                    <a:pt x="1758264" y="863371"/>
                  </a:lnTo>
                  <a:lnTo>
                    <a:pt x="1752650" y="874750"/>
                  </a:lnTo>
                  <a:lnTo>
                    <a:pt x="1798180" y="897178"/>
                  </a:lnTo>
                  <a:lnTo>
                    <a:pt x="1803781" y="885799"/>
                  </a:lnTo>
                  <a:close/>
                </a:path>
                <a:path w="4211320" h="2356485">
                  <a:moveTo>
                    <a:pt x="1889036" y="986485"/>
                  </a:moveTo>
                  <a:lnTo>
                    <a:pt x="1862518" y="943216"/>
                  </a:lnTo>
                  <a:lnTo>
                    <a:pt x="1851698" y="949858"/>
                  </a:lnTo>
                  <a:lnTo>
                    <a:pt x="1878215" y="993114"/>
                  </a:lnTo>
                  <a:lnTo>
                    <a:pt x="1889036" y="986485"/>
                  </a:lnTo>
                  <a:close/>
                </a:path>
                <a:path w="4211320" h="2356485">
                  <a:moveTo>
                    <a:pt x="1907578" y="910869"/>
                  </a:moveTo>
                  <a:lnTo>
                    <a:pt x="1903984" y="898702"/>
                  </a:lnTo>
                  <a:lnTo>
                    <a:pt x="1857679" y="912368"/>
                  </a:lnTo>
                  <a:lnTo>
                    <a:pt x="1837918" y="902614"/>
                  </a:lnTo>
                  <a:lnTo>
                    <a:pt x="1832317" y="913993"/>
                  </a:lnTo>
                  <a:lnTo>
                    <a:pt x="1854301" y="924826"/>
                  </a:lnTo>
                  <a:lnTo>
                    <a:pt x="1857095" y="919137"/>
                  </a:lnTo>
                  <a:lnTo>
                    <a:pt x="1858899" y="925220"/>
                  </a:lnTo>
                  <a:lnTo>
                    <a:pt x="1907578" y="910869"/>
                  </a:lnTo>
                  <a:close/>
                </a:path>
                <a:path w="4211320" h="2356485">
                  <a:moveTo>
                    <a:pt x="1935441" y="1062202"/>
                  </a:moveTo>
                  <a:lnTo>
                    <a:pt x="1908924" y="1018933"/>
                  </a:lnTo>
                  <a:lnTo>
                    <a:pt x="1898103" y="1025563"/>
                  </a:lnTo>
                  <a:lnTo>
                    <a:pt x="1924621" y="1068832"/>
                  </a:lnTo>
                  <a:lnTo>
                    <a:pt x="1935441" y="1062202"/>
                  </a:lnTo>
                  <a:close/>
                </a:path>
                <a:path w="4211320" h="2356485">
                  <a:moveTo>
                    <a:pt x="1981847" y="1137920"/>
                  </a:moveTo>
                  <a:lnTo>
                    <a:pt x="1955330" y="1094651"/>
                  </a:lnTo>
                  <a:lnTo>
                    <a:pt x="1944509" y="1101293"/>
                  </a:lnTo>
                  <a:lnTo>
                    <a:pt x="1971027" y="1144549"/>
                  </a:lnTo>
                  <a:lnTo>
                    <a:pt x="1981847" y="1137920"/>
                  </a:lnTo>
                  <a:close/>
                </a:path>
                <a:path w="4211320" h="2356485">
                  <a:moveTo>
                    <a:pt x="1992757" y="885761"/>
                  </a:moveTo>
                  <a:lnTo>
                    <a:pt x="1989175" y="873594"/>
                  </a:lnTo>
                  <a:lnTo>
                    <a:pt x="1940496" y="887945"/>
                  </a:lnTo>
                  <a:lnTo>
                    <a:pt x="1944077" y="900112"/>
                  </a:lnTo>
                  <a:lnTo>
                    <a:pt x="1992757" y="885761"/>
                  </a:lnTo>
                  <a:close/>
                </a:path>
                <a:path w="4211320" h="2356485">
                  <a:moveTo>
                    <a:pt x="2028253" y="1213637"/>
                  </a:moveTo>
                  <a:lnTo>
                    <a:pt x="2001735" y="1170368"/>
                  </a:lnTo>
                  <a:lnTo>
                    <a:pt x="1990915" y="1176997"/>
                  </a:lnTo>
                  <a:lnTo>
                    <a:pt x="2017433" y="1220266"/>
                  </a:lnTo>
                  <a:lnTo>
                    <a:pt x="2028253" y="1213637"/>
                  </a:lnTo>
                  <a:close/>
                </a:path>
                <a:path w="4211320" h="2356485">
                  <a:moveTo>
                    <a:pt x="2074659" y="1289354"/>
                  </a:moveTo>
                  <a:lnTo>
                    <a:pt x="2048141" y="1246085"/>
                  </a:lnTo>
                  <a:lnTo>
                    <a:pt x="2037321" y="1252715"/>
                  </a:lnTo>
                  <a:lnTo>
                    <a:pt x="2063838" y="1295984"/>
                  </a:lnTo>
                  <a:lnTo>
                    <a:pt x="2074659" y="1289354"/>
                  </a:lnTo>
                  <a:close/>
                </a:path>
                <a:path w="4211320" h="2356485">
                  <a:moveTo>
                    <a:pt x="2077948" y="860653"/>
                  </a:moveTo>
                  <a:lnTo>
                    <a:pt x="2074354" y="848487"/>
                  </a:lnTo>
                  <a:lnTo>
                    <a:pt x="2025675" y="862838"/>
                  </a:lnTo>
                  <a:lnTo>
                    <a:pt x="2029269" y="875004"/>
                  </a:lnTo>
                  <a:lnTo>
                    <a:pt x="2077948" y="860653"/>
                  </a:lnTo>
                  <a:close/>
                </a:path>
                <a:path w="4211320" h="2356485">
                  <a:moveTo>
                    <a:pt x="2121065" y="1365072"/>
                  </a:moveTo>
                  <a:lnTo>
                    <a:pt x="2094547" y="1321803"/>
                  </a:lnTo>
                  <a:lnTo>
                    <a:pt x="2083739" y="1328432"/>
                  </a:lnTo>
                  <a:lnTo>
                    <a:pt x="2110257" y="1371701"/>
                  </a:lnTo>
                  <a:lnTo>
                    <a:pt x="2121065" y="1365072"/>
                  </a:lnTo>
                  <a:close/>
                </a:path>
                <a:path w="4211320" h="2356485">
                  <a:moveTo>
                    <a:pt x="2163127" y="835545"/>
                  </a:moveTo>
                  <a:lnTo>
                    <a:pt x="2159546" y="823379"/>
                  </a:lnTo>
                  <a:lnTo>
                    <a:pt x="2110867" y="837730"/>
                  </a:lnTo>
                  <a:lnTo>
                    <a:pt x="2114448" y="849896"/>
                  </a:lnTo>
                  <a:lnTo>
                    <a:pt x="2163127" y="835545"/>
                  </a:lnTo>
                  <a:close/>
                </a:path>
                <a:path w="4211320" h="2356485">
                  <a:moveTo>
                    <a:pt x="2167471" y="1440789"/>
                  </a:moveTo>
                  <a:lnTo>
                    <a:pt x="2140953" y="1397520"/>
                  </a:lnTo>
                  <a:lnTo>
                    <a:pt x="2130145" y="1404150"/>
                  </a:lnTo>
                  <a:lnTo>
                    <a:pt x="2156663" y="1447419"/>
                  </a:lnTo>
                  <a:lnTo>
                    <a:pt x="2167471" y="1440789"/>
                  </a:lnTo>
                  <a:close/>
                </a:path>
                <a:path w="4211320" h="2356485">
                  <a:moveTo>
                    <a:pt x="2213889" y="1516507"/>
                  </a:moveTo>
                  <a:lnTo>
                    <a:pt x="2187359" y="1473238"/>
                  </a:lnTo>
                  <a:lnTo>
                    <a:pt x="2176551" y="1479867"/>
                  </a:lnTo>
                  <a:lnTo>
                    <a:pt x="2203069" y="1523136"/>
                  </a:lnTo>
                  <a:lnTo>
                    <a:pt x="2213889" y="1516507"/>
                  </a:lnTo>
                  <a:close/>
                </a:path>
                <a:path w="4211320" h="2356485">
                  <a:moveTo>
                    <a:pt x="2248319" y="810437"/>
                  </a:moveTo>
                  <a:lnTo>
                    <a:pt x="2244725" y="798271"/>
                  </a:lnTo>
                  <a:lnTo>
                    <a:pt x="2196046" y="812622"/>
                  </a:lnTo>
                  <a:lnTo>
                    <a:pt x="2199640" y="824788"/>
                  </a:lnTo>
                  <a:lnTo>
                    <a:pt x="2248319" y="810437"/>
                  </a:lnTo>
                  <a:close/>
                </a:path>
                <a:path w="4211320" h="2356485">
                  <a:moveTo>
                    <a:pt x="2260295" y="1592224"/>
                  </a:moveTo>
                  <a:lnTo>
                    <a:pt x="2233777" y="1548955"/>
                  </a:lnTo>
                  <a:lnTo>
                    <a:pt x="2222957" y="1555584"/>
                  </a:lnTo>
                  <a:lnTo>
                    <a:pt x="2249474" y="1598853"/>
                  </a:lnTo>
                  <a:lnTo>
                    <a:pt x="2260295" y="1592224"/>
                  </a:lnTo>
                  <a:close/>
                </a:path>
                <a:path w="4211320" h="2356485">
                  <a:moveTo>
                    <a:pt x="2306701" y="1667941"/>
                  </a:moveTo>
                  <a:lnTo>
                    <a:pt x="2280183" y="1624672"/>
                  </a:lnTo>
                  <a:lnTo>
                    <a:pt x="2269363" y="1631302"/>
                  </a:lnTo>
                  <a:lnTo>
                    <a:pt x="2295880" y="1674571"/>
                  </a:lnTo>
                  <a:lnTo>
                    <a:pt x="2306701" y="1667941"/>
                  </a:lnTo>
                  <a:close/>
                </a:path>
                <a:path w="4211320" h="2356485">
                  <a:moveTo>
                    <a:pt x="2333498" y="785342"/>
                  </a:moveTo>
                  <a:lnTo>
                    <a:pt x="2329916" y="773163"/>
                  </a:lnTo>
                  <a:lnTo>
                    <a:pt x="2281237" y="787514"/>
                  </a:lnTo>
                  <a:lnTo>
                    <a:pt x="2284819" y="799680"/>
                  </a:lnTo>
                  <a:lnTo>
                    <a:pt x="2333498" y="785342"/>
                  </a:lnTo>
                  <a:close/>
                </a:path>
                <a:path w="4211320" h="2356485">
                  <a:moveTo>
                    <a:pt x="2353106" y="1743659"/>
                  </a:moveTo>
                  <a:lnTo>
                    <a:pt x="2326589" y="1700390"/>
                  </a:lnTo>
                  <a:lnTo>
                    <a:pt x="2315768" y="1707019"/>
                  </a:lnTo>
                  <a:lnTo>
                    <a:pt x="2342286" y="1750288"/>
                  </a:lnTo>
                  <a:lnTo>
                    <a:pt x="2353106" y="1743659"/>
                  </a:lnTo>
                  <a:close/>
                </a:path>
                <a:path w="4211320" h="2356485">
                  <a:moveTo>
                    <a:pt x="2399512" y="1819376"/>
                  </a:moveTo>
                  <a:lnTo>
                    <a:pt x="2372995" y="1776107"/>
                  </a:lnTo>
                  <a:lnTo>
                    <a:pt x="2362174" y="1782737"/>
                  </a:lnTo>
                  <a:lnTo>
                    <a:pt x="2388692" y="1826006"/>
                  </a:lnTo>
                  <a:lnTo>
                    <a:pt x="2399512" y="1819376"/>
                  </a:lnTo>
                  <a:close/>
                </a:path>
                <a:path w="4211320" h="2356485">
                  <a:moveTo>
                    <a:pt x="2418677" y="760234"/>
                  </a:moveTo>
                  <a:lnTo>
                    <a:pt x="2415095" y="748055"/>
                  </a:lnTo>
                  <a:lnTo>
                    <a:pt x="2366416" y="762406"/>
                  </a:lnTo>
                  <a:lnTo>
                    <a:pt x="2370010" y="774573"/>
                  </a:lnTo>
                  <a:lnTo>
                    <a:pt x="2418677" y="760234"/>
                  </a:lnTo>
                  <a:close/>
                </a:path>
                <a:path w="4211320" h="2356485">
                  <a:moveTo>
                    <a:pt x="2445918" y="1895094"/>
                  </a:moveTo>
                  <a:lnTo>
                    <a:pt x="2419400" y="1851825"/>
                  </a:lnTo>
                  <a:lnTo>
                    <a:pt x="2408580" y="1858454"/>
                  </a:lnTo>
                  <a:lnTo>
                    <a:pt x="2435098" y="1901723"/>
                  </a:lnTo>
                  <a:lnTo>
                    <a:pt x="2445918" y="1895094"/>
                  </a:lnTo>
                  <a:close/>
                </a:path>
                <a:path w="4211320" h="2356485">
                  <a:moveTo>
                    <a:pt x="2492324" y="1970811"/>
                  </a:moveTo>
                  <a:lnTo>
                    <a:pt x="2465806" y="1927542"/>
                  </a:lnTo>
                  <a:lnTo>
                    <a:pt x="2454999" y="1934171"/>
                  </a:lnTo>
                  <a:lnTo>
                    <a:pt x="2481516" y="1977440"/>
                  </a:lnTo>
                  <a:lnTo>
                    <a:pt x="2492324" y="1970811"/>
                  </a:lnTo>
                  <a:close/>
                </a:path>
                <a:path w="4211320" h="2356485">
                  <a:moveTo>
                    <a:pt x="2503868" y="735126"/>
                  </a:moveTo>
                  <a:lnTo>
                    <a:pt x="2500274" y="722947"/>
                  </a:lnTo>
                  <a:lnTo>
                    <a:pt x="2451608" y="737298"/>
                  </a:lnTo>
                  <a:lnTo>
                    <a:pt x="2455189" y="749465"/>
                  </a:lnTo>
                  <a:lnTo>
                    <a:pt x="2503868" y="735126"/>
                  </a:lnTo>
                  <a:close/>
                </a:path>
                <a:path w="4211320" h="2356485">
                  <a:moveTo>
                    <a:pt x="2538730" y="2046528"/>
                  </a:moveTo>
                  <a:lnTo>
                    <a:pt x="2512212" y="2003259"/>
                  </a:lnTo>
                  <a:lnTo>
                    <a:pt x="2501404" y="2009889"/>
                  </a:lnTo>
                  <a:lnTo>
                    <a:pt x="2527922" y="2053158"/>
                  </a:lnTo>
                  <a:lnTo>
                    <a:pt x="2538730" y="2046528"/>
                  </a:lnTo>
                  <a:close/>
                </a:path>
                <a:path w="4211320" h="2356485">
                  <a:moveTo>
                    <a:pt x="2585148" y="2122246"/>
                  </a:moveTo>
                  <a:lnTo>
                    <a:pt x="2558618" y="2078977"/>
                  </a:lnTo>
                  <a:lnTo>
                    <a:pt x="2547810" y="2085606"/>
                  </a:lnTo>
                  <a:lnTo>
                    <a:pt x="2574328" y="2128875"/>
                  </a:lnTo>
                  <a:lnTo>
                    <a:pt x="2585148" y="2122246"/>
                  </a:lnTo>
                  <a:close/>
                </a:path>
                <a:path w="4211320" h="2356485">
                  <a:moveTo>
                    <a:pt x="2589047" y="710018"/>
                  </a:moveTo>
                  <a:lnTo>
                    <a:pt x="2585466" y="697852"/>
                  </a:lnTo>
                  <a:lnTo>
                    <a:pt x="2536787" y="712190"/>
                  </a:lnTo>
                  <a:lnTo>
                    <a:pt x="2540368" y="724357"/>
                  </a:lnTo>
                  <a:lnTo>
                    <a:pt x="2589047" y="710018"/>
                  </a:lnTo>
                  <a:close/>
                </a:path>
                <a:path w="4211320" h="2356485">
                  <a:moveTo>
                    <a:pt x="2631554" y="2197963"/>
                  </a:moveTo>
                  <a:lnTo>
                    <a:pt x="2605036" y="2154694"/>
                  </a:lnTo>
                  <a:lnTo>
                    <a:pt x="2594216" y="2161324"/>
                  </a:lnTo>
                  <a:lnTo>
                    <a:pt x="2620734" y="2204593"/>
                  </a:lnTo>
                  <a:lnTo>
                    <a:pt x="2631554" y="2197963"/>
                  </a:lnTo>
                  <a:close/>
                </a:path>
                <a:path w="4211320" h="2356485">
                  <a:moveTo>
                    <a:pt x="2674239" y="684911"/>
                  </a:moveTo>
                  <a:lnTo>
                    <a:pt x="2670645" y="672744"/>
                  </a:lnTo>
                  <a:lnTo>
                    <a:pt x="2621965" y="687082"/>
                  </a:lnTo>
                  <a:lnTo>
                    <a:pt x="2625560" y="699262"/>
                  </a:lnTo>
                  <a:lnTo>
                    <a:pt x="2674239" y="684911"/>
                  </a:lnTo>
                  <a:close/>
                </a:path>
                <a:path w="4211320" h="2356485">
                  <a:moveTo>
                    <a:pt x="2677960" y="2273681"/>
                  </a:moveTo>
                  <a:lnTo>
                    <a:pt x="2651442" y="2230412"/>
                  </a:lnTo>
                  <a:lnTo>
                    <a:pt x="2640622" y="2237041"/>
                  </a:lnTo>
                  <a:lnTo>
                    <a:pt x="2667139" y="2280310"/>
                  </a:lnTo>
                  <a:lnTo>
                    <a:pt x="2677960" y="2273681"/>
                  </a:lnTo>
                  <a:close/>
                </a:path>
                <a:path w="4211320" h="2356485">
                  <a:moveTo>
                    <a:pt x="2724366" y="2349398"/>
                  </a:moveTo>
                  <a:lnTo>
                    <a:pt x="2697848" y="2306129"/>
                  </a:lnTo>
                  <a:lnTo>
                    <a:pt x="2687028" y="2312759"/>
                  </a:lnTo>
                  <a:lnTo>
                    <a:pt x="2713545" y="2356027"/>
                  </a:lnTo>
                  <a:lnTo>
                    <a:pt x="2724366" y="2349398"/>
                  </a:lnTo>
                  <a:close/>
                </a:path>
                <a:path w="4211320" h="2356485">
                  <a:moveTo>
                    <a:pt x="2726677" y="669455"/>
                  </a:moveTo>
                  <a:lnTo>
                    <a:pt x="2723083" y="657288"/>
                  </a:lnTo>
                  <a:lnTo>
                    <a:pt x="2707157" y="661974"/>
                  </a:lnTo>
                  <a:lnTo>
                    <a:pt x="2710738" y="674154"/>
                  </a:lnTo>
                  <a:lnTo>
                    <a:pt x="2726677" y="669455"/>
                  </a:lnTo>
                  <a:close/>
                </a:path>
                <a:path w="4211320" h="2356485">
                  <a:moveTo>
                    <a:pt x="2817888" y="664451"/>
                  </a:moveTo>
                  <a:lnTo>
                    <a:pt x="2773667" y="639572"/>
                  </a:lnTo>
                  <a:lnTo>
                    <a:pt x="2767444" y="650633"/>
                  </a:lnTo>
                  <a:lnTo>
                    <a:pt x="2811678" y="675513"/>
                  </a:lnTo>
                  <a:lnTo>
                    <a:pt x="2817888" y="664451"/>
                  </a:lnTo>
                  <a:close/>
                </a:path>
                <a:path w="4211320" h="2356485">
                  <a:moveTo>
                    <a:pt x="2895295" y="707986"/>
                  </a:moveTo>
                  <a:lnTo>
                    <a:pt x="2851061" y="683107"/>
                  </a:lnTo>
                  <a:lnTo>
                    <a:pt x="2844850" y="694169"/>
                  </a:lnTo>
                  <a:lnTo>
                    <a:pt x="2889072" y="719048"/>
                  </a:lnTo>
                  <a:lnTo>
                    <a:pt x="2895295" y="707986"/>
                  </a:lnTo>
                  <a:close/>
                </a:path>
                <a:path w="4211320" h="2356485">
                  <a:moveTo>
                    <a:pt x="2972701" y="751522"/>
                  </a:moveTo>
                  <a:lnTo>
                    <a:pt x="2928467" y="726643"/>
                  </a:lnTo>
                  <a:lnTo>
                    <a:pt x="2922244" y="737704"/>
                  </a:lnTo>
                  <a:lnTo>
                    <a:pt x="2966478" y="762584"/>
                  </a:lnTo>
                  <a:lnTo>
                    <a:pt x="2972701" y="751522"/>
                  </a:lnTo>
                  <a:close/>
                </a:path>
                <a:path w="4211320" h="2356485">
                  <a:moveTo>
                    <a:pt x="3050095" y="795070"/>
                  </a:moveTo>
                  <a:lnTo>
                    <a:pt x="3005874" y="770191"/>
                  </a:lnTo>
                  <a:lnTo>
                    <a:pt x="2999651" y="781240"/>
                  </a:lnTo>
                  <a:lnTo>
                    <a:pt x="3043885" y="806119"/>
                  </a:lnTo>
                  <a:lnTo>
                    <a:pt x="3050095" y="795070"/>
                  </a:lnTo>
                  <a:close/>
                </a:path>
                <a:path w="4211320" h="2356485">
                  <a:moveTo>
                    <a:pt x="3127502" y="838606"/>
                  </a:moveTo>
                  <a:lnTo>
                    <a:pt x="3083268" y="813727"/>
                  </a:lnTo>
                  <a:lnTo>
                    <a:pt x="3077057" y="824788"/>
                  </a:lnTo>
                  <a:lnTo>
                    <a:pt x="3121279" y="849668"/>
                  </a:lnTo>
                  <a:lnTo>
                    <a:pt x="3127502" y="838606"/>
                  </a:lnTo>
                  <a:close/>
                </a:path>
                <a:path w="4211320" h="2356485">
                  <a:moveTo>
                    <a:pt x="3204908" y="882142"/>
                  </a:moveTo>
                  <a:lnTo>
                    <a:pt x="3160674" y="857262"/>
                  </a:lnTo>
                  <a:lnTo>
                    <a:pt x="3154451" y="868324"/>
                  </a:lnTo>
                  <a:lnTo>
                    <a:pt x="3198685" y="893203"/>
                  </a:lnTo>
                  <a:lnTo>
                    <a:pt x="3204908" y="882142"/>
                  </a:lnTo>
                  <a:close/>
                </a:path>
                <a:path w="4211320" h="2356485">
                  <a:moveTo>
                    <a:pt x="3282302" y="925677"/>
                  </a:moveTo>
                  <a:lnTo>
                    <a:pt x="3238081" y="900798"/>
                  </a:lnTo>
                  <a:lnTo>
                    <a:pt x="3231858" y="911860"/>
                  </a:lnTo>
                  <a:lnTo>
                    <a:pt x="3276092" y="936739"/>
                  </a:lnTo>
                  <a:lnTo>
                    <a:pt x="3282302" y="925677"/>
                  </a:lnTo>
                  <a:close/>
                </a:path>
                <a:path w="4211320" h="2356485">
                  <a:moveTo>
                    <a:pt x="3359708" y="969225"/>
                  </a:moveTo>
                  <a:lnTo>
                    <a:pt x="3315474" y="944346"/>
                  </a:lnTo>
                  <a:lnTo>
                    <a:pt x="3309264" y="955395"/>
                  </a:lnTo>
                  <a:lnTo>
                    <a:pt x="3353485" y="980274"/>
                  </a:lnTo>
                  <a:lnTo>
                    <a:pt x="3359708" y="969225"/>
                  </a:lnTo>
                  <a:close/>
                </a:path>
                <a:path w="4211320" h="2356485">
                  <a:moveTo>
                    <a:pt x="3437115" y="1012761"/>
                  </a:moveTo>
                  <a:lnTo>
                    <a:pt x="3392881" y="987882"/>
                  </a:lnTo>
                  <a:lnTo>
                    <a:pt x="3386658" y="998943"/>
                  </a:lnTo>
                  <a:lnTo>
                    <a:pt x="3430892" y="1023823"/>
                  </a:lnTo>
                  <a:lnTo>
                    <a:pt x="3437115" y="1012761"/>
                  </a:lnTo>
                  <a:close/>
                </a:path>
                <a:path w="4211320" h="2356485">
                  <a:moveTo>
                    <a:pt x="3514509" y="1056297"/>
                  </a:moveTo>
                  <a:lnTo>
                    <a:pt x="3470287" y="1031417"/>
                  </a:lnTo>
                  <a:lnTo>
                    <a:pt x="3464064" y="1042479"/>
                  </a:lnTo>
                  <a:lnTo>
                    <a:pt x="3508298" y="1067358"/>
                  </a:lnTo>
                  <a:lnTo>
                    <a:pt x="3514509" y="1056297"/>
                  </a:lnTo>
                  <a:close/>
                </a:path>
                <a:path w="4211320" h="2356485">
                  <a:moveTo>
                    <a:pt x="3591915" y="1099832"/>
                  </a:moveTo>
                  <a:lnTo>
                    <a:pt x="3547681" y="1074953"/>
                  </a:lnTo>
                  <a:lnTo>
                    <a:pt x="3541471" y="1086015"/>
                  </a:lnTo>
                  <a:lnTo>
                    <a:pt x="3585692" y="1110894"/>
                  </a:lnTo>
                  <a:lnTo>
                    <a:pt x="3591915" y="1099832"/>
                  </a:lnTo>
                  <a:close/>
                </a:path>
                <a:path w="4211320" h="2356485">
                  <a:moveTo>
                    <a:pt x="3669322" y="1143381"/>
                  </a:moveTo>
                  <a:lnTo>
                    <a:pt x="3625088" y="1118501"/>
                  </a:lnTo>
                  <a:lnTo>
                    <a:pt x="3618865" y="1129550"/>
                  </a:lnTo>
                  <a:lnTo>
                    <a:pt x="3663099" y="1154430"/>
                  </a:lnTo>
                  <a:lnTo>
                    <a:pt x="3669322" y="1143381"/>
                  </a:lnTo>
                  <a:close/>
                </a:path>
                <a:path w="4211320" h="2356485">
                  <a:moveTo>
                    <a:pt x="3746716" y="1186916"/>
                  </a:moveTo>
                  <a:lnTo>
                    <a:pt x="3702494" y="1162037"/>
                  </a:lnTo>
                  <a:lnTo>
                    <a:pt x="3696271" y="1173099"/>
                  </a:lnTo>
                  <a:lnTo>
                    <a:pt x="3740505" y="1197978"/>
                  </a:lnTo>
                  <a:lnTo>
                    <a:pt x="3746716" y="1186916"/>
                  </a:lnTo>
                  <a:close/>
                </a:path>
                <a:path w="4211320" h="2356485">
                  <a:moveTo>
                    <a:pt x="3824122" y="1230452"/>
                  </a:moveTo>
                  <a:lnTo>
                    <a:pt x="3779888" y="1205572"/>
                  </a:lnTo>
                  <a:lnTo>
                    <a:pt x="3773678" y="1216634"/>
                  </a:lnTo>
                  <a:lnTo>
                    <a:pt x="3817899" y="1241513"/>
                  </a:lnTo>
                  <a:lnTo>
                    <a:pt x="3824122" y="1230452"/>
                  </a:lnTo>
                  <a:close/>
                </a:path>
                <a:path w="4211320" h="2356485">
                  <a:moveTo>
                    <a:pt x="3901529" y="1273987"/>
                  </a:moveTo>
                  <a:lnTo>
                    <a:pt x="3857294" y="1249108"/>
                  </a:lnTo>
                  <a:lnTo>
                    <a:pt x="3851071" y="1260170"/>
                  </a:lnTo>
                  <a:lnTo>
                    <a:pt x="3895306" y="1285049"/>
                  </a:lnTo>
                  <a:lnTo>
                    <a:pt x="3901529" y="1273987"/>
                  </a:lnTo>
                  <a:close/>
                </a:path>
                <a:path w="4211320" h="2356485">
                  <a:moveTo>
                    <a:pt x="3978922" y="1317536"/>
                  </a:moveTo>
                  <a:lnTo>
                    <a:pt x="3934701" y="1292656"/>
                  </a:lnTo>
                  <a:lnTo>
                    <a:pt x="3928478" y="1303705"/>
                  </a:lnTo>
                  <a:lnTo>
                    <a:pt x="3972712" y="1328585"/>
                  </a:lnTo>
                  <a:lnTo>
                    <a:pt x="3978922" y="1317536"/>
                  </a:lnTo>
                  <a:close/>
                </a:path>
                <a:path w="4211320" h="2356485">
                  <a:moveTo>
                    <a:pt x="4056329" y="1361071"/>
                  </a:moveTo>
                  <a:lnTo>
                    <a:pt x="4012095" y="1336192"/>
                  </a:lnTo>
                  <a:lnTo>
                    <a:pt x="4005884" y="1347254"/>
                  </a:lnTo>
                  <a:lnTo>
                    <a:pt x="4050106" y="1372133"/>
                  </a:lnTo>
                  <a:lnTo>
                    <a:pt x="4056329" y="1361071"/>
                  </a:lnTo>
                  <a:close/>
                </a:path>
                <a:path w="4211320" h="2356485">
                  <a:moveTo>
                    <a:pt x="4133735" y="1404607"/>
                  </a:moveTo>
                  <a:lnTo>
                    <a:pt x="4089501" y="1379728"/>
                  </a:lnTo>
                  <a:lnTo>
                    <a:pt x="4083278" y="1390789"/>
                  </a:lnTo>
                  <a:lnTo>
                    <a:pt x="4127512" y="1415669"/>
                  </a:lnTo>
                  <a:lnTo>
                    <a:pt x="4133735" y="1404607"/>
                  </a:lnTo>
                  <a:close/>
                </a:path>
                <a:path w="4211320" h="2356485">
                  <a:moveTo>
                    <a:pt x="4211129" y="1448155"/>
                  </a:moveTo>
                  <a:lnTo>
                    <a:pt x="4166908" y="1423276"/>
                  </a:lnTo>
                  <a:lnTo>
                    <a:pt x="4160685" y="1434325"/>
                  </a:lnTo>
                  <a:lnTo>
                    <a:pt x="4204919" y="1459204"/>
                  </a:lnTo>
                  <a:lnTo>
                    <a:pt x="4211129" y="1448155"/>
                  </a:lnTo>
                  <a:close/>
                </a:path>
              </a:pathLst>
            </a:custGeom>
            <a:solidFill>
              <a:srgbClr val="8FA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932616" y="3060049"/>
              <a:ext cx="639445" cy="1188085"/>
            </a:xfrm>
            <a:custGeom>
              <a:avLst/>
              <a:gdLst/>
              <a:ahLst/>
              <a:cxnLst/>
              <a:rect l="l" t="t" r="r" b="b"/>
              <a:pathLst>
                <a:path w="639445" h="1188085">
                  <a:moveTo>
                    <a:pt x="612007" y="1187481"/>
                  </a:moveTo>
                  <a:lnTo>
                    <a:pt x="27404" y="1187481"/>
                  </a:lnTo>
                  <a:lnTo>
                    <a:pt x="16737" y="1185328"/>
                  </a:lnTo>
                  <a:lnTo>
                    <a:pt x="8026" y="1179454"/>
                  </a:lnTo>
                  <a:lnTo>
                    <a:pt x="2153" y="1170743"/>
                  </a:lnTo>
                  <a:lnTo>
                    <a:pt x="0" y="1160076"/>
                  </a:lnTo>
                  <a:lnTo>
                    <a:pt x="0" y="27405"/>
                  </a:lnTo>
                  <a:lnTo>
                    <a:pt x="2153" y="16737"/>
                  </a:lnTo>
                  <a:lnTo>
                    <a:pt x="8026" y="8026"/>
                  </a:lnTo>
                  <a:lnTo>
                    <a:pt x="16737" y="2153"/>
                  </a:lnTo>
                  <a:lnTo>
                    <a:pt x="27404" y="0"/>
                  </a:lnTo>
                  <a:lnTo>
                    <a:pt x="619275" y="0"/>
                  </a:lnTo>
                  <a:lnTo>
                    <a:pt x="626246" y="2887"/>
                  </a:lnTo>
                  <a:lnTo>
                    <a:pt x="636525" y="13166"/>
                  </a:lnTo>
                  <a:lnTo>
                    <a:pt x="639412" y="20136"/>
                  </a:lnTo>
                  <a:lnTo>
                    <a:pt x="639412" y="1160076"/>
                  </a:lnTo>
                  <a:lnTo>
                    <a:pt x="637259" y="1170743"/>
                  </a:lnTo>
                  <a:lnTo>
                    <a:pt x="631386" y="1179454"/>
                  </a:lnTo>
                  <a:lnTo>
                    <a:pt x="622675" y="1185328"/>
                  </a:lnTo>
                  <a:lnTo>
                    <a:pt x="612007" y="1187481"/>
                  </a:lnTo>
                  <a:close/>
                </a:path>
              </a:pathLst>
            </a:custGeom>
            <a:solidFill>
              <a:srgbClr val="0A17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32616" y="3060049"/>
              <a:ext cx="639445" cy="1188085"/>
            </a:xfrm>
            <a:custGeom>
              <a:avLst/>
              <a:gdLst/>
              <a:ahLst/>
              <a:cxnLst/>
              <a:rect l="l" t="t" r="r" b="b"/>
              <a:pathLst>
                <a:path w="639445" h="1188085">
                  <a:moveTo>
                    <a:pt x="0" y="27405"/>
                  </a:moveTo>
                  <a:lnTo>
                    <a:pt x="2153" y="16737"/>
                  </a:lnTo>
                  <a:lnTo>
                    <a:pt x="8026" y="8026"/>
                  </a:lnTo>
                  <a:lnTo>
                    <a:pt x="16737" y="2153"/>
                  </a:lnTo>
                  <a:lnTo>
                    <a:pt x="27404" y="0"/>
                  </a:lnTo>
                  <a:lnTo>
                    <a:pt x="612007" y="0"/>
                  </a:lnTo>
                  <a:lnTo>
                    <a:pt x="619275" y="0"/>
                  </a:lnTo>
                  <a:lnTo>
                    <a:pt x="626246" y="2887"/>
                  </a:lnTo>
                  <a:lnTo>
                    <a:pt x="631386" y="8026"/>
                  </a:lnTo>
                  <a:lnTo>
                    <a:pt x="636525" y="13166"/>
                  </a:lnTo>
                  <a:lnTo>
                    <a:pt x="639412" y="20136"/>
                  </a:lnTo>
                  <a:lnTo>
                    <a:pt x="639412" y="27405"/>
                  </a:lnTo>
                  <a:lnTo>
                    <a:pt x="639412" y="1160076"/>
                  </a:lnTo>
                  <a:lnTo>
                    <a:pt x="637259" y="1170743"/>
                  </a:lnTo>
                  <a:lnTo>
                    <a:pt x="631386" y="1179454"/>
                  </a:lnTo>
                  <a:lnTo>
                    <a:pt x="622675" y="1185328"/>
                  </a:lnTo>
                  <a:lnTo>
                    <a:pt x="612007" y="1187481"/>
                  </a:lnTo>
                  <a:lnTo>
                    <a:pt x="27404" y="1187481"/>
                  </a:lnTo>
                  <a:lnTo>
                    <a:pt x="16737" y="1185328"/>
                  </a:lnTo>
                  <a:lnTo>
                    <a:pt x="8026" y="1179454"/>
                  </a:lnTo>
                  <a:lnTo>
                    <a:pt x="2153" y="1170743"/>
                  </a:lnTo>
                  <a:lnTo>
                    <a:pt x="0" y="1160076"/>
                  </a:lnTo>
                  <a:lnTo>
                    <a:pt x="0" y="27405"/>
                  </a:lnTo>
                  <a:close/>
                </a:path>
              </a:pathLst>
            </a:custGeom>
            <a:ln w="19030">
              <a:solidFill>
                <a:srgbClr val="17C6C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8381" y="3562445"/>
              <a:ext cx="137016" cy="13701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992077" y="4645247"/>
            <a:ext cx="401383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3-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D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world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point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is</a:t>
            </a:r>
            <a:r>
              <a:rPr dirty="0" sz="110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projected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through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camera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center</a:t>
            </a:r>
            <a:r>
              <a:rPr dirty="0" sz="1100" spc="-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onto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100" spc="-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2-</a:t>
            </a:r>
            <a:r>
              <a:rPr dirty="0" sz="1100" spc="-50">
                <a:solidFill>
                  <a:srgbClr val="C8D3E3"/>
                </a:solidFill>
                <a:latin typeface="Calibri"/>
                <a:cs typeface="Calibri"/>
              </a:rPr>
              <a:t>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2077" y="4845064"/>
            <a:ext cx="1176655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image/sensor</a:t>
            </a:r>
            <a:r>
              <a:rPr dirty="0" sz="11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plane.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07383" y="1748857"/>
            <a:ext cx="148653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b="1">
                <a:solidFill>
                  <a:srgbClr val="F1A83B"/>
                </a:solidFill>
                <a:latin typeface="Calibri"/>
                <a:cs typeface="Calibri"/>
              </a:rPr>
              <a:t>How</a:t>
            </a:r>
            <a:r>
              <a:rPr dirty="0" sz="1400" spc="-30" b="1">
                <a:solidFill>
                  <a:srgbClr val="F1A83B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1A83B"/>
                </a:solidFill>
                <a:latin typeface="Calibri"/>
                <a:cs typeface="Calibri"/>
              </a:rPr>
              <a:t>AR</a:t>
            </a:r>
            <a:r>
              <a:rPr dirty="0" sz="1400" spc="-30" b="1">
                <a:solidFill>
                  <a:srgbClr val="F1A83B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1A83B"/>
                </a:solidFill>
                <a:latin typeface="Calibri"/>
                <a:cs typeface="Calibri"/>
              </a:rPr>
              <a:t>Apps</a:t>
            </a:r>
            <a:r>
              <a:rPr dirty="0" sz="1400" spc="-25" b="1">
                <a:solidFill>
                  <a:srgbClr val="F1A83B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F1A83B"/>
                </a:solidFill>
                <a:latin typeface="Calibri"/>
                <a:cs typeface="Calibri"/>
              </a:rPr>
              <a:t>Use</a:t>
            </a:r>
            <a:r>
              <a:rPr dirty="0" sz="1400" spc="-30" b="1">
                <a:solidFill>
                  <a:srgbClr val="F1A83B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F1A83B"/>
                </a:solidFill>
                <a:latin typeface="Calibri"/>
                <a:cs typeface="Calibri"/>
              </a:rPr>
              <a:t>It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28753" y="2192273"/>
            <a:ext cx="5480685" cy="713105"/>
          </a:xfrm>
          <a:custGeom>
            <a:avLst/>
            <a:gdLst/>
            <a:ahLst/>
            <a:cxnLst/>
            <a:rect l="l" t="t" r="r" b="b"/>
            <a:pathLst>
              <a:path w="5480684" h="713105">
                <a:moveTo>
                  <a:pt x="5435014" y="712489"/>
                </a:moveTo>
                <a:lnTo>
                  <a:pt x="45670" y="712489"/>
                </a:lnTo>
                <a:lnTo>
                  <a:pt x="27893" y="708900"/>
                </a:lnTo>
                <a:lnTo>
                  <a:pt x="13376" y="699112"/>
                </a:lnTo>
                <a:lnTo>
                  <a:pt x="3589" y="684595"/>
                </a:lnTo>
                <a:lnTo>
                  <a:pt x="0" y="666818"/>
                </a:lnTo>
                <a:lnTo>
                  <a:pt x="0" y="45670"/>
                </a:lnTo>
                <a:lnTo>
                  <a:pt x="3589" y="27893"/>
                </a:lnTo>
                <a:lnTo>
                  <a:pt x="13376" y="13376"/>
                </a:lnTo>
                <a:lnTo>
                  <a:pt x="27893" y="3589"/>
                </a:lnTo>
                <a:lnTo>
                  <a:pt x="45670" y="0"/>
                </a:lnTo>
                <a:lnTo>
                  <a:pt x="5435014" y="0"/>
                </a:lnTo>
                <a:lnTo>
                  <a:pt x="5473011" y="20332"/>
                </a:lnTo>
                <a:lnTo>
                  <a:pt x="5480684" y="45670"/>
                </a:lnTo>
                <a:lnTo>
                  <a:pt x="5480684" y="666818"/>
                </a:lnTo>
                <a:lnTo>
                  <a:pt x="5477095" y="684595"/>
                </a:lnTo>
                <a:lnTo>
                  <a:pt x="5467308" y="699112"/>
                </a:lnTo>
                <a:lnTo>
                  <a:pt x="5452791" y="708900"/>
                </a:lnTo>
                <a:lnTo>
                  <a:pt x="5435014" y="712489"/>
                </a:lnTo>
                <a:close/>
              </a:path>
            </a:pathLst>
          </a:custGeom>
          <a:solidFill>
            <a:srgbClr val="1625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290072" y="2213770"/>
            <a:ext cx="4868545" cy="64389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10" b="1">
                <a:solidFill>
                  <a:srgbClr val="17C6C6"/>
                </a:solidFill>
                <a:latin typeface="Calibri"/>
                <a:cs typeface="Calibri"/>
              </a:rPr>
              <a:t>Intrinsic</a:t>
            </a:r>
            <a:r>
              <a:rPr dirty="0" sz="1200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7C6C6"/>
                </a:solidFill>
                <a:latin typeface="Calibri"/>
                <a:cs typeface="Calibri"/>
              </a:rPr>
              <a:t>parameters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2400"/>
              </a:lnSpc>
              <a:spcBef>
                <a:spcPts val="270"/>
              </a:spcBef>
            </a:pP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Focal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length,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optical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center,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lens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distortion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—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fixed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properties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of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phone's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camera,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found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via</a:t>
            </a:r>
            <a:r>
              <a:rPr dirty="0" sz="10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calibration.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28753" y="3014376"/>
            <a:ext cx="5480685" cy="713105"/>
          </a:xfrm>
          <a:custGeom>
            <a:avLst/>
            <a:gdLst/>
            <a:ahLst/>
            <a:cxnLst/>
            <a:rect l="l" t="t" r="r" b="b"/>
            <a:pathLst>
              <a:path w="5480684" h="713104">
                <a:moveTo>
                  <a:pt x="5435014" y="712489"/>
                </a:moveTo>
                <a:lnTo>
                  <a:pt x="45670" y="712489"/>
                </a:lnTo>
                <a:lnTo>
                  <a:pt x="27893" y="708900"/>
                </a:lnTo>
                <a:lnTo>
                  <a:pt x="13376" y="699112"/>
                </a:lnTo>
                <a:lnTo>
                  <a:pt x="3589" y="684595"/>
                </a:lnTo>
                <a:lnTo>
                  <a:pt x="0" y="666818"/>
                </a:lnTo>
                <a:lnTo>
                  <a:pt x="0" y="45670"/>
                </a:lnTo>
                <a:lnTo>
                  <a:pt x="3589" y="27893"/>
                </a:lnTo>
                <a:lnTo>
                  <a:pt x="13376" y="13376"/>
                </a:lnTo>
                <a:lnTo>
                  <a:pt x="27893" y="3589"/>
                </a:lnTo>
                <a:lnTo>
                  <a:pt x="45670" y="0"/>
                </a:lnTo>
                <a:lnTo>
                  <a:pt x="5435014" y="0"/>
                </a:lnTo>
                <a:lnTo>
                  <a:pt x="5473011" y="20332"/>
                </a:lnTo>
                <a:lnTo>
                  <a:pt x="5480684" y="45670"/>
                </a:lnTo>
                <a:lnTo>
                  <a:pt x="5480684" y="666818"/>
                </a:lnTo>
                <a:lnTo>
                  <a:pt x="5477095" y="684595"/>
                </a:lnTo>
                <a:lnTo>
                  <a:pt x="5467308" y="699112"/>
                </a:lnTo>
                <a:lnTo>
                  <a:pt x="5452791" y="708900"/>
                </a:lnTo>
                <a:lnTo>
                  <a:pt x="5435014" y="712489"/>
                </a:lnTo>
                <a:close/>
              </a:path>
            </a:pathLst>
          </a:custGeom>
          <a:solidFill>
            <a:srgbClr val="1625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290072" y="3035874"/>
            <a:ext cx="4882515" cy="64389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10" b="1">
                <a:solidFill>
                  <a:srgbClr val="17C6C6"/>
                </a:solidFill>
                <a:latin typeface="Calibri"/>
                <a:cs typeface="Calibri"/>
              </a:rPr>
              <a:t>Extrinsic</a:t>
            </a:r>
            <a:r>
              <a:rPr dirty="0" sz="1200" spc="15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7C6C6"/>
                </a:solidFill>
                <a:latin typeface="Calibri"/>
                <a:cs typeface="Calibri"/>
              </a:rPr>
              <a:t>parameters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2400"/>
              </a:lnSpc>
              <a:spcBef>
                <a:spcPts val="270"/>
              </a:spcBef>
            </a:pP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camera's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position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&amp;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orientation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(rotation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+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translation)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in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real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world,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updated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every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frame</a:t>
            </a:r>
            <a:r>
              <a:rPr dirty="0" sz="10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by</a:t>
            </a:r>
            <a:r>
              <a:rPr dirty="0" sz="10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tracking.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028753" y="3836479"/>
            <a:ext cx="5480685" cy="713105"/>
          </a:xfrm>
          <a:custGeom>
            <a:avLst/>
            <a:gdLst/>
            <a:ahLst/>
            <a:cxnLst/>
            <a:rect l="l" t="t" r="r" b="b"/>
            <a:pathLst>
              <a:path w="5480684" h="713104">
                <a:moveTo>
                  <a:pt x="5435014" y="712488"/>
                </a:moveTo>
                <a:lnTo>
                  <a:pt x="45670" y="712488"/>
                </a:lnTo>
                <a:lnTo>
                  <a:pt x="27893" y="708899"/>
                </a:lnTo>
                <a:lnTo>
                  <a:pt x="13376" y="699112"/>
                </a:lnTo>
                <a:lnTo>
                  <a:pt x="3589" y="684595"/>
                </a:lnTo>
                <a:lnTo>
                  <a:pt x="0" y="666818"/>
                </a:lnTo>
                <a:lnTo>
                  <a:pt x="0" y="45670"/>
                </a:lnTo>
                <a:lnTo>
                  <a:pt x="3589" y="27893"/>
                </a:lnTo>
                <a:lnTo>
                  <a:pt x="13376" y="13376"/>
                </a:lnTo>
                <a:lnTo>
                  <a:pt x="27893" y="3589"/>
                </a:lnTo>
                <a:lnTo>
                  <a:pt x="45670" y="0"/>
                </a:lnTo>
                <a:lnTo>
                  <a:pt x="5435014" y="0"/>
                </a:lnTo>
                <a:lnTo>
                  <a:pt x="5473011" y="20332"/>
                </a:lnTo>
                <a:lnTo>
                  <a:pt x="5480684" y="45670"/>
                </a:lnTo>
                <a:lnTo>
                  <a:pt x="5480684" y="666818"/>
                </a:lnTo>
                <a:lnTo>
                  <a:pt x="5477095" y="684595"/>
                </a:lnTo>
                <a:lnTo>
                  <a:pt x="5467308" y="699112"/>
                </a:lnTo>
                <a:lnTo>
                  <a:pt x="5452791" y="708899"/>
                </a:lnTo>
                <a:lnTo>
                  <a:pt x="5435014" y="712488"/>
                </a:lnTo>
                <a:close/>
              </a:path>
            </a:pathLst>
          </a:custGeom>
          <a:solidFill>
            <a:srgbClr val="1625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290072" y="3857976"/>
            <a:ext cx="4699635" cy="64389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200" b="1">
                <a:solidFill>
                  <a:srgbClr val="17C6C6"/>
                </a:solidFill>
                <a:latin typeface="Calibri"/>
                <a:cs typeface="Calibri"/>
              </a:rPr>
              <a:t>Vision</a:t>
            </a:r>
            <a:r>
              <a:rPr dirty="0" sz="1200" spc="-45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7C6C6"/>
                </a:solidFill>
                <a:latin typeface="Calibri"/>
                <a:cs typeface="Calibri"/>
              </a:rPr>
              <a:t>side</a:t>
            </a:r>
            <a:r>
              <a:rPr dirty="0" sz="1200" spc="-40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7C6C6"/>
                </a:solidFill>
                <a:latin typeface="Calibri"/>
                <a:cs typeface="Calibri"/>
              </a:rPr>
              <a:t>(inverse</a:t>
            </a:r>
            <a:r>
              <a:rPr dirty="0" sz="1200" spc="-40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7C6C6"/>
                </a:solidFill>
                <a:latin typeface="Calibri"/>
                <a:cs typeface="Calibri"/>
              </a:rPr>
              <a:t>use)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2400"/>
              </a:lnSpc>
              <a:spcBef>
                <a:spcPts val="270"/>
              </a:spcBef>
            </a:pP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Vision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estimates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extrinsics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from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image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features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—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this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gives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live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camera/device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pose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(SLAM</a:t>
            </a:r>
            <a:r>
              <a:rPr dirty="0" sz="10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/</a:t>
            </a:r>
            <a:r>
              <a:rPr dirty="0" sz="10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VIO).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028753" y="4658581"/>
            <a:ext cx="5480685" cy="713105"/>
          </a:xfrm>
          <a:custGeom>
            <a:avLst/>
            <a:gdLst/>
            <a:ahLst/>
            <a:cxnLst/>
            <a:rect l="l" t="t" r="r" b="b"/>
            <a:pathLst>
              <a:path w="5480684" h="713104">
                <a:moveTo>
                  <a:pt x="5435014" y="712489"/>
                </a:moveTo>
                <a:lnTo>
                  <a:pt x="45670" y="712489"/>
                </a:lnTo>
                <a:lnTo>
                  <a:pt x="27893" y="708900"/>
                </a:lnTo>
                <a:lnTo>
                  <a:pt x="13376" y="699112"/>
                </a:lnTo>
                <a:lnTo>
                  <a:pt x="3589" y="684595"/>
                </a:lnTo>
                <a:lnTo>
                  <a:pt x="0" y="666818"/>
                </a:lnTo>
                <a:lnTo>
                  <a:pt x="0" y="45670"/>
                </a:lnTo>
                <a:lnTo>
                  <a:pt x="3589" y="27893"/>
                </a:lnTo>
                <a:lnTo>
                  <a:pt x="13376" y="13376"/>
                </a:lnTo>
                <a:lnTo>
                  <a:pt x="27893" y="3589"/>
                </a:lnTo>
                <a:lnTo>
                  <a:pt x="45670" y="0"/>
                </a:lnTo>
                <a:lnTo>
                  <a:pt x="5435014" y="0"/>
                </a:lnTo>
                <a:lnTo>
                  <a:pt x="5473011" y="20332"/>
                </a:lnTo>
                <a:lnTo>
                  <a:pt x="5480684" y="45670"/>
                </a:lnTo>
                <a:lnTo>
                  <a:pt x="5480684" y="666818"/>
                </a:lnTo>
                <a:lnTo>
                  <a:pt x="5477095" y="684595"/>
                </a:lnTo>
                <a:lnTo>
                  <a:pt x="5467308" y="699112"/>
                </a:lnTo>
                <a:lnTo>
                  <a:pt x="5452791" y="708900"/>
                </a:lnTo>
                <a:lnTo>
                  <a:pt x="5435014" y="712489"/>
                </a:lnTo>
                <a:close/>
              </a:path>
            </a:pathLst>
          </a:custGeom>
          <a:solidFill>
            <a:srgbClr val="1625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290072" y="4680079"/>
            <a:ext cx="4698365" cy="64389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10" b="1">
                <a:solidFill>
                  <a:srgbClr val="17C6C6"/>
                </a:solidFill>
                <a:latin typeface="Calibri"/>
                <a:cs typeface="Calibri"/>
              </a:rPr>
              <a:t>Graphics</a:t>
            </a:r>
            <a:r>
              <a:rPr dirty="0" sz="1200" spc="-25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7C6C6"/>
                </a:solidFill>
                <a:latin typeface="Calibri"/>
                <a:cs typeface="Calibri"/>
              </a:rPr>
              <a:t>side</a:t>
            </a:r>
            <a:r>
              <a:rPr dirty="0" sz="1200" spc="-20" b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7C6C6"/>
                </a:solidFill>
                <a:latin typeface="Calibri"/>
                <a:cs typeface="Calibri"/>
              </a:rPr>
              <a:t>(forward</a:t>
            </a:r>
            <a:r>
              <a:rPr dirty="0" sz="1200" spc="-20" b="1">
                <a:solidFill>
                  <a:srgbClr val="17C6C6"/>
                </a:solidFill>
                <a:latin typeface="Calibri"/>
                <a:cs typeface="Calibri"/>
              </a:rPr>
              <a:t> use)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2400"/>
              </a:lnSpc>
              <a:spcBef>
                <a:spcPts val="270"/>
              </a:spcBef>
            </a:pP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Graphics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uses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SAME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intrinsics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+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estimated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pose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to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project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virtual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3-D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objects</a:t>
            </a:r>
            <a:r>
              <a:rPr dirty="0" sz="10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so</a:t>
            </a:r>
            <a:r>
              <a:rPr dirty="0" sz="1000" spc="3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C8D3E3"/>
                </a:solidFill>
                <a:latin typeface="Calibri"/>
                <a:cs typeface="Calibri"/>
              </a:rPr>
              <a:t>they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align</a:t>
            </a:r>
            <a:r>
              <a:rPr dirty="0" sz="10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with</a:t>
            </a:r>
            <a:r>
              <a:rPr dirty="0" sz="10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0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C8D3E3"/>
                </a:solidFill>
                <a:latin typeface="Calibri"/>
                <a:cs typeface="Calibri"/>
              </a:rPr>
              <a:t>real</a:t>
            </a:r>
            <a:r>
              <a:rPr dirty="0" sz="10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C8D3E3"/>
                </a:solidFill>
                <a:latin typeface="Calibri"/>
                <a:cs typeface="Calibri"/>
              </a:rPr>
              <a:t>scene.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4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9413" y="411051"/>
            <a:ext cx="822325" cy="822325"/>
          </a:xfrm>
          <a:prstGeom prst="rect">
            <a:avLst/>
          </a:prstGeom>
          <a:solidFill>
            <a:srgbClr val="6B62FF"/>
          </a:solidFill>
        </p:spPr>
        <p:txBody>
          <a:bodyPr wrap="square" lIns="0" tIns="1949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35"/>
              </a:spcBef>
            </a:pPr>
            <a:r>
              <a:rPr dirty="0" sz="2600" spc="-5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25"/>
              <a:t>Real-</a:t>
            </a:r>
            <a:r>
              <a:rPr dirty="0" sz="2400"/>
              <a:t>Time</a:t>
            </a:r>
            <a:r>
              <a:rPr dirty="0" sz="2400" spc="-35"/>
              <a:t> </a:t>
            </a:r>
            <a:r>
              <a:rPr dirty="0" sz="2400" spc="-10"/>
              <a:t>Challenges</a:t>
            </a:r>
            <a:r>
              <a:rPr dirty="0" sz="2400" spc="-30"/>
              <a:t> </a:t>
            </a:r>
            <a:r>
              <a:rPr dirty="0" sz="2400"/>
              <a:t>—</a:t>
            </a:r>
            <a:r>
              <a:rPr dirty="0" sz="2400" spc="-30"/>
              <a:t> </a:t>
            </a:r>
            <a:r>
              <a:rPr dirty="0" sz="2400" spc="-25"/>
              <a:t>Tracking</a:t>
            </a:r>
            <a:r>
              <a:rPr dirty="0" sz="2400" spc="-35"/>
              <a:t> </a:t>
            </a:r>
            <a:r>
              <a:rPr dirty="0" sz="2400"/>
              <a:t>&amp;</a:t>
            </a:r>
            <a:r>
              <a:rPr dirty="0" sz="2400" spc="-30"/>
              <a:t> </a:t>
            </a:r>
            <a:r>
              <a:rPr dirty="0" sz="2400" spc="-10"/>
              <a:t>Timing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768507" y="1014928"/>
            <a:ext cx="5386070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AR</a:t>
            </a:r>
            <a:r>
              <a:rPr dirty="0" sz="1350" spc="-45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must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stay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locked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to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the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real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world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while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the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phone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and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scene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keep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moving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1575" y="1516069"/>
            <a:ext cx="5468620" cy="2179955"/>
            <a:chOff x="531575" y="1516069"/>
            <a:chExt cx="5468620" cy="21799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575" y="1516069"/>
              <a:ext cx="5467998" cy="2179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9413" y="1598533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5197510" y="1963912"/>
                  </a:moveTo>
                  <a:lnTo>
                    <a:pt x="54812" y="1963912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10" y="0"/>
                  </a:lnTo>
                  <a:lnTo>
                    <a:pt x="5236268" y="16054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6" y="1959604"/>
                  </a:lnTo>
                  <a:lnTo>
                    <a:pt x="5197510" y="1963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9413" y="1598533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0" y="54812"/>
                  </a:move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10" y="0"/>
                  </a:lnTo>
                  <a:lnTo>
                    <a:pt x="5236268" y="16054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6" y="1959604"/>
                  </a:lnTo>
                  <a:lnTo>
                    <a:pt x="5197510" y="1963912"/>
                  </a:lnTo>
                  <a:lnTo>
                    <a:pt x="54812" y="1963912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close/>
                </a:path>
              </a:pathLst>
            </a:custGeom>
            <a:ln w="12686">
              <a:solidFill>
                <a:srgbClr val="E1E6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3447" y="187256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411050" y="502396"/>
                  </a:moveTo>
                  <a:lnTo>
                    <a:pt x="91345" y="502396"/>
                  </a:lnTo>
                  <a:lnTo>
                    <a:pt x="55789" y="495217"/>
                  </a:lnTo>
                  <a:lnTo>
                    <a:pt x="26754" y="475641"/>
                  </a:lnTo>
                  <a:lnTo>
                    <a:pt x="7178" y="446606"/>
                  </a:lnTo>
                  <a:lnTo>
                    <a:pt x="0" y="411050"/>
                  </a:lnTo>
                  <a:lnTo>
                    <a:pt x="0" y="91345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5" y="0"/>
                  </a:lnTo>
                  <a:lnTo>
                    <a:pt x="411050" y="0"/>
                  </a:lnTo>
                  <a:lnTo>
                    <a:pt x="461729" y="15347"/>
                  </a:lnTo>
                  <a:lnTo>
                    <a:pt x="495442" y="56389"/>
                  </a:lnTo>
                  <a:lnTo>
                    <a:pt x="502396" y="91345"/>
                  </a:lnTo>
                  <a:lnTo>
                    <a:pt x="502396" y="411050"/>
                  </a:lnTo>
                  <a:lnTo>
                    <a:pt x="495217" y="446606"/>
                  </a:lnTo>
                  <a:lnTo>
                    <a:pt x="475641" y="475641"/>
                  </a:lnTo>
                  <a:lnTo>
                    <a:pt x="446606" y="495217"/>
                  </a:lnTo>
                  <a:lnTo>
                    <a:pt x="411050" y="502396"/>
                  </a:lnTo>
                  <a:close/>
                </a:path>
              </a:pathLst>
            </a:custGeom>
            <a:solidFill>
              <a:srgbClr val="17C6C6">
                <a:alpha val="878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96743" y="1974682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7162" y="1975634"/>
            <a:ext cx="2176145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spc="-20" b="1">
                <a:solidFill>
                  <a:srgbClr val="16203D"/>
                </a:solidFill>
                <a:latin typeface="Calibri"/>
                <a:cs typeface="Calibri"/>
              </a:rPr>
              <a:t>Tracking</a:t>
            </a:r>
            <a:r>
              <a:rPr dirty="0" sz="1450" spc="-5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16203D"/>
                </a:solidFill>
                <a:latin typeface="Calibri"/>
                <a:cs typeface="Calibri"/>
              </a:rPr>
              <a:t>&amp;</a:t>
            </a:r>
            <a:r>
              <a:rPr dirty="0" sz="1450" spc="-5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16203D"/>
                </a:solidFill>
                <a:latin typeface="Calibri"/>
                <a:cs typeface="Calibri"/>
              </a:rPr>
              <a:t>Registration</a:t>
            </a:r>
            <a:r>
              <a:rPr dirty="0" sz="145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450" spc="-20" b="1">
                <a:solidFill>
                  <a:srgbClr val="16203D"/>
                </a:solidFill>
                <a:latin typeface="Calibri"/>
                <a:cs typeface="Calibri"/>
              </a:rPr>
              <a:t>Drift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2077" y="2699223"/>
            <a:ext cx="4483735" cy="44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Small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errors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in</a:t>
            </a:r>
            <a:r>
              <a:rPr dirty="0" sz="1100" spc="6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pose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estimation</a:t>
            </a:r>
            <a:r>
              <a:rPr dirty="0" sz="1100" spc="6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accumulate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over</a:t>
            </a:r>
            <a:r>
              <a:rPr dirty="0" sz="1100" spc="6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time,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causing</a:t>
            </a:r>
            <a:r>
              <a:rPr dirty="0" sz="1100" spc="6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virtual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86686"/>
                </a:solidFill>
                <a:latin typeface="Calibri"/>
                <a:cs typeface="Calibri"/>
              </a:rPr>
              <a:t>objects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to</a:t>
            </a:r>
            <a:r>
              <a:rPr dirty="0" sz="1100" spc="4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slowly</a:t>
            </a:r>
            <a:r>
              <a:rPr dirty="0" sz="1100" spc="4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slide</a:t>
            </a:r>
            <a:r>
              <a:rPr dirty="0" sz="1100" spc="4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away</a:t>
            </a:r>
            <a:r>
              <a:rPr dirty="0" sz="1100" spc="4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from</a:t>
            </a:r>
            <a:r>
              <a:rPr dirty="0" sz="1100" spc="4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their</a:t>
            </a:r>
            <a:r>
              <a:rPr dirty="0" sz="1100" spc="4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correct</a:t>
            </a:r>
            <a:r>
              <a:rPr dirty="0" sz="1100" spc="4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real-world</a:t>
            </a:r>
            <a:r>
              <a:rPr dirty="0" sz="1100" spc="4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86686"/>
                </a:solidFill>
                <a:latin typeface="Calibri"/>
                <a:cs typeface="Calibri"/>
              </a:rPr>
              <a:t>position.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57932" y="1516069"/>
            <a:ext cx="5468620" cy="2179955"/>
            <a:chOff x="6057932" y="1516069"/>
            <a:chExt cx="5468620" cy="217995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7932" y="1516069"/>
              <a:ext cx="5467998" cy="217958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65770" y="1598533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5197509" y="1963912"/>
                  </a:moveTo>
                  <a:lnTo>
                    <a:pt x="54812" y="1963912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09" y="0"/>
                  </a:lnTo>
                  <a:lnTo>
                    <a:pt x="5236268" y="16054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5" y="1959604"/>
                  </a:lnTo>
                  <a:lnTo>
                    <a:pt x="5197509" y="1963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65770" y="1598533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0" y="54812"/>
                  </a:move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09" y="0"/>
                  </a:lnTo>
                  <a:lnTo>
                    <a:pt x="5236268" y="16054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5" y="1959604"/>
                  </a:lnTo>
                  <a:lnTo>
                    <a:pt x="5197509" y="1963912"/>
                  </a:lnTo>
                  <a:lnTo>
                    <a:pt x="54812" y="1963912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close/>
                </a:path>
              </a:pathLst>
            </a:custGeom>
            <a:ln w="12686">
              <a:solidFill>
                <a:srgbClr val="E1E6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39804" y="187256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411050" y="502396"/>
                  </a:moveTo>
                  <a:lnTo>
                    <a:pt x="91345" y="502396"/>
                  </a:lnTo>
                  <a:lnTo>
                    <a:pt x="55789" y="495217"/>
                  </a:lnTo>
                  <a:lnTo>
                    <a:pt x="26754" y="475641"/>
                  </a:lnTo>
                  <a:lnTo>
                    <a:pt x="7178" y="446606"/>
                  </a:lnTo>
                  <a:lnTo>
                    <a:pt x="0" y="411050"/>
                  </a:lnTo>
                  <a:lnTo>
                    <a:pt x="0" y="91345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5" y="0"/>
                  </a:lnTo>
                  <a:lnTo>
                    <a:pt x="411050" y="0"/>
                  </a:lnTo>
                  <a:lnTo>
                    <a:pt x="461729" y="15347"/>
                  </a:lnTo>
                  <a:lnTo>
                    <a:pt x="495442" y="56389"/>
                  </a:lnTo>
                  <a:lnTo>
                    <a:pt x="502395" y="91345"/>
                  </a:lnTo>
                  <a:lnTo>
                    <a:pt x="502395" y="411050"/>
                  </a:lnTo>
                  <a:lnTo>
                    <a:pt x="495217" y="446606"/>
                  </a:lnTo>
                  <a:lnTo>
                    <a:pt x="475641" y="475641"/>
                  </a:lnTo>
                  <a:lnTo>
                    <a:pt x="446606" y="495217"/>
                  </a:lnTo>
                  <a:lnTo>
                    <a:pt x="411050" y="502396"/>
                  </a:lnTo>
                  <a:close/>
                </a:path>
              </a:pathLst>
            </a:custGeom>
            <a:solidFill>
              <a:srgbClr val="F1A83B">
                <a:alpha val="878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623099" y="1974682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03520" y="1975634"/>
            <a:ext cx="2045335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spc="-10" b="1">
                <a:solidFill>
                  <a:srgbClr val="16203D"/>
                </a:solidFill>
                <a:latin typeface="Calibri"/>
                <a:cs typeface="Calibri"/>
              </a:rPr>
              <a:t>Motion-</a:t>
            </a:r>
            <a:r>
              <a:rPr dirty="0" sz="1450" spc="-20" b="1">
                <a:solidFill>
                  <a:srgbClr val="16203D"/>
                </a:solidFill>
                <a:latin typeface="Calibri"/>
                <a:cs typeface="Calibri"/>
              </a:rPr>
              <a:t>to-</a:t>
            </a:r>
            <a:r>
              <a:rPr dirty="0" sz="1450" b="1">
                <a:solidFill>
                  <a:srgbClr val="16203D"/>
                </a:solidFill>
                <a:latin typeface="Calibri"/>
                <a:cs typeface="Calibri"/>
              </a:rPr>
              <a:t>Photon</a:t>
            </a:r>
            <a:r>
              <a:rPr dirty="0" sz="1450" spc="1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16203D"/>
                </a:solidFill>
                <a:latin typeface="Calibri"/>
                <a:cs typeface="Calibri"/>
              </a:rPr>
              <a:t>Latency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18434" y="2594558"/>
            <a:ext cx="4448810" cy="6534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The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delay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between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a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real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head/camera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movement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and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the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matching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86686"/>
                </a:solidFill>
                <a:latin typeface="Calibri"/>
                <a:cs typeface="Calibri"/>
              </a:rPr>
              <a:t>update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on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screen.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Even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20-30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ms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of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lag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is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visible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as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virtual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objects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'swimming'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86686"/>
                </a:solidFill>
                <a:latin typeface="Calibri"/>
                <a:cs typeface="Calibri"/>
              </a:rPr>
              <a:t>or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lagging</a:t>
            </a:r>
            <a:r>
              <a:rPr dirty="0" sz="1100" spc="10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86686"/>
                </a:solidFill>
                <a:latin typeface="Calibri"/>
                <a:cs typeface="Calibri"/>
              </a:rPr>
              <a:t>behind.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1575" y="3708343"/>
            <a:ext cx="5468620" cy="2179955"/>
            <a:chOff x="531575" y="3708343"/>
            <a:chExt cx="5468620" cy="217995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575" y="3708343"/>
              <a:ext cx="5467998" cy="217958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9413" y="3790807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5197510" y="1963911"/>
                  </a:moveTo>
                  <a:lnTo>
                    <a:pt x="54812" y="1963911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10" y="0"/>
                  </a:lnTo>
                  <a:lnTo>
                    <a:pt x="5236268" y="16053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6" y="1959604"/>
                  </a:lnTo>
                  <a:lnTo>
                    <a:pt x="5197510" y="19639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39413" y="3790807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0" y="54812"/>
                  </a:move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10" y="0"/>
                  </a:lnTo>
                  <a:lnTo>
                    <a:pt x="5236268" y="16053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6" y="1959604"/>
                  </a:lnTo>
                  <a:lnTo>
                    <a:pt x="5197510" y="1963911"/>
                  </a:lnTo>
                  <a:lnTo>
                    <a:pt x="54812" y="1963911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close/>
                </a:path>
              </a:pathLst>
            </a:custGeom>
            <a:ln w="12686">
              <a:solidFill>
                <a:srgbClr val="E1E6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13447" y="406484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411050" y="502396"/>
                  </a:moveTo>
                  <a:lnTo>
                    <a:pt x="91345" y="502396"/>
                  </a:lnTo>
                  <a:lnTo>
                    <a:pt x="55789" y="495217"/>
                  </a:lnTo>
                  <a:lnTo>
                    <a:pt x="26754" y="475641"/>
                  </a:lnTo>
                  <a:lnTo>
                    <a:pt x="7178" y="446606"/>
                  </a:lnTo>
                  <a:lnTo>
                    <a:pt x="0" y="411050"/>
                  </a:lnTo>
                  <a:lnTo>
                    <a:pt x="0" y="91345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5" y="0"/>
                  </a:lnTo>
                  <a:lnTo>
                    <a:pt x="411050" y="0"/>
                  </a:lnTo>
                  <a:lnTo>
                    <a:pt x="461729" y="15347"/>
                  </a:lnTo>
                  <a:lnTo>
                    <a:pt x="495442" y="56389"/>
                  </a:lnTo>
                  <a:lnTo>
                    <a:pt x="502396" y="91345"/>
                  </a:lnTo>
                  <a:lnTo>
                    <a:pt x="502396" y="411050"/>
                  </a:lnTo>
                  <a:lnTo>
                    <a:pt x="495217" y="446606"/>
                  </a:lnTo>
                  <a:lnTo>
                    <a:pt x="475641" y="475641"/>
                  </a:lnTo>
                  <a:lnTo>
                    <a:pt x="446606" y="495217"/>
                  </a:lnTo>
                  <a:lnTo>
                    <a:pt x="411050" y="502396"/>
                  </a:lnTo>
                  <a:close/>
                </a:path>
              </a:pathLst>
            </a:custGeom>
            <a:solidFill>
              <a:srgbClr val="6B62FF">
                <a:alpha val="878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096743" y="4166956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77162" y="4167908"/>
            <a:ext cx="1475105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b="1">
                <a:solidFill>
                  <a:srgbClr val="16203D"/>
                </a:solidFill>
                <a:latin typeface="Calibri"/>
                <a:cs typeface="Calibri"/>
              </a:rPr>
              <a:t>Frame</a:t>
            </a:r>
            <a:r>
              <a:rPr dirty="0" sz="1450" spc="-5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16203D"/>
                </a:solidFill>
                <a:latin typeface="Calibri"/>
                <a:cs typeface="Calibri"/>
              </a:rPr>
              <a:t>Rate</a:t>
            </a:r>
            <a:r>
              <a:rPr dirty="0" sz="1450" spc="-5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16203D"/>
                </a:solidFill>
                <a:latin typeface="Calibri"/>
                <a:cs typeface="Calibri"/>
              </a:rPr>
              <a:t>Budget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92077" y="4891498"/>
            <a:ext cx="4374515" cy="44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A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smooth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AR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experience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needs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30-60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FPS,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leaving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only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16-33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ms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per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86686"/>
                </a:solidFill>
                <a:latin typeface="Calibri"/>
                <a:cs typeface="Calibri"/>
              </a:rPr>
              <a:t>frame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for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vision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(tracking)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+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graphics</a:t>
            </a:r>
            <a:r>
              <a:rPr dirty="0" sz="1100" spc="5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(rendering)</a:t>
            </a:r>
            <a:r>
              <a:rPr dirty="0" sz="1100" spc="4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86686"/>
                </a:solidFill>
                <a:latin typeface="Calibri"/>
                <a:cs typeface="Calibri"/>
              </a:rPr>
              <a:t>combined.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57932" y="3708343"/>
            <a:ext cx="5468620" cy="2179955"/>
            <a:chOff x="6057932" y="3708343"/>
            <a:chExt cx="5468620" cy="2179955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7932" y="3708343"/>
              <a:ext cx="5467998" cy="217958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165770" y="3790807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5197509" y="1963911"/>
                  </a:moveTo>
                  <a:lnTo>
                    <a:pt x="54812" y="1963911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09" y="0"/>
                  </a:lnTo>
                  <a:lnTo>
                    <a:pt x="5236268" y="16053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5" y="1959604"/>
                  </a:lnTo>
                  <a:lnTo>
                    <a:pt x="5197509" y="19639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165770" y="3790807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0" y="54812"/>
                  </a:move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09" y="0"/>
                  </a:lnTo>
                  <a:lnTo>
                    <a:pt x="5236268" y="16053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5" y="1959604"/>
                  </a:lnTo>
                  <a:lnTo>
                    <a:pt x="5197509" y="1963911"/>
                  </a:lnTo>
                  <a:lnTo>
                    <a:pt x="54812" y="1963911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close/>
                </a:path>
              </a:pathLst>
            </a:custGeom>
            <a:ln w="12686">
              <a:solidFill>
                <a:srgbClr val="E1E6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439804" y="406484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411050" y="502396"/>
                  </a:moveTo>
                  <a:lnTo>
                    <a:pt x="91345" y="502396"/>
                  </a:lnTo>
                  <a:lnTo>
                    <a:pt x="55789" y="495217"/>
                  </a:lnTo>
                  <a:lnTo>
                    <a:pt x="26754" y="475641"/>
                  </a:lnTo>
                  <a:lnTo>
                    <a:pt x="7178" y="446606"/>
                  </a:lnTo>
                  <a:lnTo>
                    <a:pt x="0" y="411050"/>
                  </a:lnTo>
                  <a:lnTo>
                    <a:pt x="0" y="91345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5" y="0"/>
                  </a:lnTo>
                  <a:lnTo>
                    <a:pt x="411050" y="0"/>
                  </a:lnTo>
                  <a:lnTo>
                    <a:pt x="461729" y="15347"/>
                  </a:lnTo>
                  <a:lnTo>
                    <a:pt x="495442" y="56389"/>
                  </a:lnTo>
                  <a:lnTo>
                    <a:pt x="502395" y="91345"/>
                  </a:lnTo>
                  <a:lnTo>
                    <a:pt x="502395" y="411050"/>
                  </a:lnTo>
                  <a:lnTo>
                    <a:pt x="495217" y="446606"/>
                  </a:lnTo>
                  <a:lnTo>
                    <a:pt x="475641" y="475641"/>
                  </a:lnTo>
                  <a:lnTo>
                    <a:pt x="446606" y="495217"/>
                  </a:lnTo>
                  <a:lnTo>
                    <a:pt x="411050" y="502396"/>
                  </a:lnTo>
                  <a:close/>
                </a:path>
              </a:pathLst>
            </a:custGeom>
            <a:solidFill>
              <a:srgbClr val="E3572E">
                <a:alpha val="8783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623099" y="4166956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6" name="object 36"/>
          <p:cNvSpPr txBox="1"/>
          <p:nvPr/>
        </p:nvSpPr>
        <p:spPr>
          <a:xfrm>
            <a:off x="7203520" y="4167908"/>
            <a:ext cx="1983739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b="1">
                <a:solidFill>
                  <a:srgbClr val="16203D"/>
                </a:solidFill>
                <a:latin typeface="Calibri"/>
                <a:cs typeface="Calibri"/>
              </a:rPr>
              <a:t>Sensor</a:t>
            </a:r>
            <a:r>
              <a:rPr dirty="0" sz="1450" spc="-25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16203D"/>
                </a:solidFill>
                <a:latin typeface="Calibri"/>
                <a:cs typeface="Calibri"/>
              </a:rPr>
              <a:t>Fusion</a:t>
            </a:r>
            <a:r>
              <a:rPr dirty="0" sz="1450" spc="-20" b="1">
                <a:solidFill>
                  <a:srgbClr val="16203D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16203D"/>
                </a:solidFill>
                <a:latin typeface="Calibri"/>
                <a:cs typeface="Calibri"/>
              </a:rPr>
              <a:t>Complexity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18434" y="4891498"/>
            <a:ext cx="4469765" cy="44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Camera</a:t>
            </a:r>
            <a:r>
              <a:rPr dirty="0" sz="1100" spc="5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data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must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be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fused</a:t>
            </a:r>
            <a:r>
              <a:rPr dirty="0" sz="1100" spc="5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with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IMU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(gyroscope/accelerometer)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readings</a:t>
            </a:r>
            <a:r>
              <a:rPr dirty="0" sz="1100" spc="6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586686"/>
                </a:solidFill>
                <a:latin typeface="Calibri"/>
                <a:cs typeface="Calibri"/>
              </a:rPr>
              <a:t>in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real</a:t>
            </a:r>
            <a:r>
              <a:rPr dirty="0" sz="1100" spc="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time</a:t>
            </a:r>
            <a:r>
              <a:rPr dirty="0" sz="1100" spc="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to</a:t>
            </a:r>
            <a:r>
              <a:rPr dirty="0" sz="1100" spc="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keep</a:t>
            </a:r>
            <a:r>
              <a:rPr dirty="0" sz="1100" spc="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tracking</a:t>
            </a:r>
            <a:r>
              <a:rPr dirty="0" sz="1100" spc="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stable</a:t>
            </a:r>
            <a:r>
              <a:rPr dirty="0" sz="1100" spc="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when</a:t>
            </a:r>
            <a:r>
              <a:rPr dirty="0" sz="1100" spc="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visual</a:t>
            </a:r>
            <a:r>
              <a:rPr dirty="0" sz="1100" spc="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features</a:t>
            </a:r>
            <a:r>
              <a:rPr dirty="0" sz="1100" spc="30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are</a:t>
            </a:r>
            <a:r>
              <a:rPr dirty="0" sz="1100" spc="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86686"/>
                </a:solidFill>
                <a:latin typeface="Calibri"/>
                <a:cs typeface="Calibri"/>
              </a:rPr>
              <a:t>briefly</a:t>
            </a:r>
            <a:r>
              <a:rPr dirty="0" sz="1100" spc="35">
                <a:solidFill>
                  <a:srgbClr val="586686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86686"/>
                </a:solidFill>
                <a:latin typeface="Calibri"/>
                <a:cs typeface="Calibri"/>
              </a:rPr>
              <a:t>lost.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4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9413" y="411051"/>
            <a:ext cx="822325" cy="822325"/>
          </a:xfrm>
          <a:prstGeom prst="rect">
            <a:avLst/>
          </a:prstGeom>
          <a:solidFill>
            <a:srgbClr val="6B62FF"/>
          </a:solidFill>
        </p:spPr>
        <p:txBody>
          <a:bodyPr wrap="square" lIns="0" tIns="1949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35"/>
              </a:spcBef>
            </a:pPr>
            <a:r>
              <a:rPr dirty="0" sz="2600" spc="-5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Real-</a:t>
            </a:r>
            <a:r>
              <a:rPr dirty="0"/>
              <a:t>Time</a:t>
            </a:r>
            <a:r>
              <a:rPr dirty="0" spc="-55"/>
              <a:t> </a:t>
            </a:r>
            <a:r>
              <a:rPr dirty="0"/>
              <a:t>Challenges</a:t>
            </a:r>
            <a:r>
              <a:rPr dirty="0" spc="-55"/>
              <a:t> </a:t>
            </a:r>
            <a:r>
              <a:rPr dirty="0"/>
              <a:t>—</a:t>
            </a:r>
            <a:r>
              <a:rPr dirty="0" spc="-55"/>
              <a:t> </a:t>
            </a:r>
            <a:r>
              <a:rPr dirty="0" spc="-10"/>
              <a:t>Environment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 spc="-10"/>
              <a:t>Compute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68507" y="1014928"/>
            <a:ext cx="5395595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Mobile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hardware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and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unpredictable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real-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world</a:t>
            </a:r>
            <a:r>
              <a:rPr dirty="0" sz="1350" spc="-35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scenes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add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i="1">
                <a:solidFill>
                  <a:srgbClr val="6B7995"/>
                </a:solidFill>
                <a:latin typeface="Calibri"/>
                <a:cs typeface="Calibri"/>
              </a:rPr>
              <a:t>further</a:t>
            </a:r>
            <a:r>
              <a:rPr dirty="0" sz="1350" spc="-40" i="1">
                <a:solidFill>
                  <a:srgbClr val="6B7995"/>
                </a:solidFill>
                <a:latin typeface="Calibri"/>
                <a:cs typeface="Calibri"/>
              </a:rPr>
              <a:t> </a:t>
            </a:r>
            <a:r>
              <a:rPr dirty="0" sz="1350" spc="-10" i="1">
                <a:solidFill>
                  <a:srgbClr val="6B7995"/>
                </a:solidFill>
                <a:latin typeface="Calibri"/>
                <a:cs typeface="Calibri"/>
              </a:rPr>
              <a:t>constraints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7919" y="1522412"/>
            <a:ext cx="5455920" cy="2167255"/>
            <a:chOff x="537919" y="1522412"/>
            <a:chExt cx="5455920" cy="21672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919" y="1522412"/>
              <a:ext cx="5455311" cy="21669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9413" y="1598533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5197510" y="1963912"/>
                  </a:moveTo>
                  <a:lnTo>
                    <a:pt x="54812" y="1963912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10" y="0"/>
                  </a:lnTo>
                  <a:lnTo>
                    <a:pt x="5236268" y="16054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6" y="1959604"/>
                  </a:lnTo>
                  <a:lnTo>
                    <a:pt x="5197510" y="1963912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3447" y="187256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411050" y="502396"/>
                  </a:moveTo>
                  <a:lnTo>
                    <a:pt x="91345" y="502396"/>
                  </a:lnTo>
                  <a:lnTo>
                    <a:pt x="55789" y="495217"/>
                  </a:lnTo>
                  <a:lnTo>
                    <a:pt x="26754" y="475641"/>
                  </a:lnTo>
                  <a:lnTo>
                    <a:pt x="7178" y="446606"/>
                  </a:lnTo>
                  <a:lnTo>
                    <a:pt x="0" y="411050"/>
                  </a:lnTo>
                  <a:lnTo>
                    <a:pt x="0" y="91345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5" y="0"/>
                  </a:lnTo>
                  <a:lnTo>
                    <a:pt x="411050" y="0"/>
                  </a:lnTo>
                  <a:lnTo>
                    <a:pt x="461729" y="15347"/>
                  </a:lnTo>
                  <a:lnTo>
                    <a:pt x="495442" y="56389"/>
                  </a:lnTo>
                  <a:lnTo>
                    <a:pt x="502396" y="91345"/>
                  </a:lnTo>
                  <a:lnTo>
                    <a:pt x="502396" y="411050"/>
                  </a:lnTo>
                  <a:lnTo>
                    <a:pt x="495217" y="446606"/>
                  </a:lnTo>
                  <a:lnTo>
                    <a:pt x="475641" y="475641"/>
                  </a:lnTo>
                  <a:lnTo>
                    <a:pt x="446606" y="495217"/>
                  </a:lnTo>
                  <a:lnTo>
                    <a:pt x="411050" y="502396"/>
                  </a:lnTo>
                  <a:close/>
                </a:path>
              </a:pathLst>
            </a:custGeom>
            <a:solidFill>
              <a:srgbClr val="17C6C6">
                <a:alpha val="8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96743" y="1974682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7162" y="1975634"/>
            <a:ext cx="2145030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Lighting</a:t>
            </a:r>
            <a:r>
              <a:rPr dirty="0" sz="14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25" b="1">
                <a:solidFill>
                  <a:srgbClr val="FFFFFF"/>
                </a:solidFill>
                <a:latin typeface="Calibri"/>
                <a:cs typeface="Calibri"/>
              </a:rPr>
              <a:t>Texture</a:t>
            </a:r>
            <a:r>
              <a:rPr dirty="0" sz="14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Variation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2077" y="2699223"/>
            <a:ext cx="4396740" cy="44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Poor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lighting,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glare,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or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plain/textureless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surfaces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(blank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walls)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make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feature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detection</a:t>
            </a:r>
            <a:r>
              <a:rPr dirty="0" sz="1100" spc="7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unreliable,</a:t>
            </a:r>
            <a:r>
              <a:rPr dirty="0" sz="1100" spc="7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weakening</a:t>
            </a:r>
            <a:r>
              <a:rPr dirty="0" sz="1100" spc="7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tracking.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64276" y="1522412"/>
            <a:ext cx="5455920" cy="2167255"/>
            <a:chOff x="6064276" y="1522412"/>
            <a:chExt cx="5455920" cy="216725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4276" y="1522412"/>
              <a:ext cx="5455311" cy="21669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65770" y="1598533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5197509" y="1963912"/>
                  </a:moveTo>
                  <a:lnTo>
                    <a:pt x="54812" y="1963912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09" y="0"/>
                  </a:lnTo>
                  <a:lnTo>
                    <a:pt x="5236268" y="16054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5" y="1959604"/>
                  </a:lnTo>
                  <a:lnTo>
                    <a:pt x="5197509" y="1963912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39804" y="187256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411050" y="502396"/>
                  </a:moveTo>
                  <a:lnTo>
                    <a:pt x="91345" y="502396"/>
                  </a:lnTo>
                  <a:lnTo>
                    <a:pt x="55789" y="495217"/>
                  </a:lnTo>
                  <a:lnTo>
                    <a:pt x="26754" y="475641"/>
                  </a:lnTo>
                  <a:lnTo>
                    <a:pt x="7178" y="446606"/>
                  </a:lnTo>
                  <a:lnTo>
                    <a:pt x="0" y="411050"/>
                  </a:lnTo>
                  <a:lnTo>
                    <a:pt x="0" y="91345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5" y="0"/>
                  </a:lnTo>
                  <a:lnTo>
                    <a:pt x="411050" y="0"/>
                  </a:lnTo>
                  <a:lnTo>
                    <a:pt x="461729" y="15347"/>
                  </a:lnTo>
                  <a:lnTo>
                    <a:pt x="495442" y="56389"/>
                  </a:lnTo>
                  <a:lnTo>
                    <a:pt x="502395" y="91345"/>
                  </a:lnTo>
                  <a:lnTo>
                    <a:pt x="502395" y="411050"/>
                  </a:lnTo>
                  <a:lnTo>
                    <a:pt x="495217" y="446606"/>
                  </a:lnTo>
                  <a:lnTo>
                    <a:pt x="475641" y="475641"/>
                  </a:lnTo>
                  <a:lnTo>
                    <a:pt x="446606" y="495217"/>
                  </a:lnTo>
                  <a:lnTo>
                    <a:pt x="411050" y="502396"/>
                  </a:lnTo>
                  <a:close/>
                </a:path>
              </a:pathLst>
            </a:custGeom>
            <a:solidFill>
              <a:srgbClr val="17C6C6">
                <a:alpha val="8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623099" y="1974682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03520" y="1975634"/>
            <a:ext cx="1485900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Occlusion</a:t>
            </a:r>
            <a:r>
              <a:rPr dirty="0" sz="145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18434" y="2699223"/>
            <a:ext cx="4392295" cy="44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Virtual objects must be hidden correctly behind real objects, requiring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real-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time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depth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estimation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of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actual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scene.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37919" y="3714686"/>
            <a:ext cx="5455920" cy="2167255"/>
            <a:chOff x="537919" y="3714686"/>
            <a:chExt cx="5455920" cy="216725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919" y="3714686"/>
              <a:ext cx="5455311" cy="21669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413" y="3790807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5197510" y="1963911"/>
                  </a:moveTo>
                  <a:lnTo>
                    <a:pt x="54812" y="1963911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10" y="0"/>
                  </a:lnTo>
                  <a:lnTo>
                    <a:pt x="5236268" y="16053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6" y="1959604"/>
                  </a:lnTo>
                  <a:lnTo>
                    <a:pt x="5197510" y="1963911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13447" y="406484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411050" y="502396"/>
                  </a:moveTo>
                  <a:lnTo>
                    <a:pt x="91345" y="502396"/>
                  </a:lnTo>
                  <a:lnTo>
                    <a:pt x="55789" y="495217"/>
                  </a:lnTo>
                  <a:lnTo>
                    <a:pt x="26754" y="475641"/>
                  </a:lnTo>
                  <a:lnTo>
                    <a:pt x="7178" y="446606"/>
                  </a:lnTo>
                  <a:lnTo>
                    <a:pt x="0" y="411050"/>
                  </a:lnTo>
                  <a:lnTo>
                    <a:pt x="0" y="91345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5" y="0"/>
                  </a:lnTo>
                  <a:lnTo>
                    <a:pt x="411050" y="0"/>
                  </a:lnTo>
                  <a:lnTo>
                    <a:pt x="461729" y="15347"/>
                  </a:lnTo>
                  <a:lnTo>
                    <a:pt x="495442" y="56389"/>
                  </a:lnTo>
                  <a:lnTo>
                    <a:pt x="502396" y="91345"/>
                  </a:lnTo>
                  <a:lnTo>
                    <a:pt x="502396" y="411050"/>
                  </a:lnTo>
                  <a:lnTo>
                    <a:pt x="495217" y="446606"/>
                  </a:lnTo>
                  <a:lnTo>
                    <a:pt x="475641" y="475641"/>
                  </a:lnTo>
                  <a:lnTo>
                    <a:pt x="446606" y="495217"/>
                  </a:lnTo>
                  <a:lnTo>
                    <a:pt x="411050" y="502396"/>
                  </a:lnTo>
                  <a:close/>
                </a:path>
              </a:pathLst>
            </a:custGeom>
            <a:solidFill>
              <a:srgbClr val="17C6C6">
                <a:alpha val="8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096743" y="4166956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77162" y="4167908"/>
            <a:ext cx="2691765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Limited</a:t>
            </a:r>
            <a:r>
              <a:rPr dirty="0" sz="14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dirty="0" sz="14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dirty="0" sz="14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Battery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92077" y="4891498"/>
            <a:ext cx="4259580" cy="44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Phones</a:t>
            </a:r>
            <a:r>
              <a:rPr dirty="0" sz="1100" spc="7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must</a:t>
            </a:r>
            <a:r>
              <a:rPr dirty="0" sz="1100" spc="7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run</a:t>
            </a:r>
            <a:r>
              <a:rPr dirty="0" sz="1100" spc="7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detection,</a:t>
            </a:r>
            <a:r>
              <a:rPr dirty="0" sz="1100" spc="7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tracking,</a:t>
            </a:r>
            <a:r>
              <a:rPr dirty="0" sz="1100" spc="7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and</a:t>
            </a:r>
            <a:r>
              <a:rPr dirty="0" sz="1100" spc="7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rendering</a:t>
            </a:r>
            <a:r>
              <a:rPr dirty="0" sz="1100" spc="7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together</a:t>
            </a:r>
            <a:r>
              <a:rPr dirty="0" sz="1100" spc="7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within</a:t>
            </a:r>
            <a:r>
              <a:rPr dirty="0" sz="1100" spc="7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tight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CPU/GPU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and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battery/thermal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limits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—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no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offline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processing.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64276" y="3714686"/>
            <a:ext cx="5455920" cy="2167255"/>
            <a:chOff x="6064276" y="3714686"/>
            <a:chExt cx="5455920" cy="2167255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4276" y="3714686"/>
              <a:ext cx="5455311" cy="21669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65770" y="3790807"/>
              <a:ext cx="5252720" cy="1964055"/>
            </a:xfrm>
            <a:custGeom>
              <a:avLst/>
              <a:gdLst/>
              <a:ahLst/>
              <a:cxnLst/>
              <a:rect l="l" t="t" r="r" b="b"/>
              <a:pathLst>
                <a:path w="5252720" h="1964054">
                  <a:moveTo>
                    <a:pt x="5197509" y="1963911"/>
                  </a:moveTo>
                  <a:lnTo>
                    <a:pt x="54812" y="1963911"/>
                  </a:lnTo>
                  <a:lnTo>
                    <a:pt x="33477" y="1959604"/>
                  </a:lnTo>
                  <a:lnTo>
                    <a:pt x="16054" y="1947857"/>
                  </a:lnTo>
                  <a:lnTo>
                    <a:pt x="4307" y="1930434"/>
                  </a:lnTo>
                  <a:lnTo>
                    <a:pt x="0" y="1909099"/>
                  </a:lnTo>
                  <a:lnTo>
                    <a:pt x="0" y="54812"/>
                  </a:lnTo>
                  <a:lnTo>
                    <a:pt x="4307" y="33477"/>
                  </a:lnTo>
                  <a:lnTo>
                    <a:pt x="16054" y="16054"/>
                  </a:lnTo>
                  <a:lnTo>
                    <a:pt x="33477" y="4307"/>
                  </a:lnTo>
                  <a:lnTo>
                    <a:pt x="54812" y="0"/>
                  </a:lnTo>
                  <a:lnTo>
                    <a:pt x="5197509" y="0"/>
                  </a:lnTo>
                  <a:lnTo>
                    <a:pt x="5236268" y="16053"/>
                  </a:lnTo>
                  <a:lnTo>
                    <a:pt x="5252323" y="54812"/>
                  </a:lnTo>
                  <a:lnTo>
                    <a:pt x="5252323" y="1909099"/>
                  </a:lnTo>
                  <a:lnTo>
                    <a:pt x="5248015" y="1930434"/>
                  </a:lnTo>
                  <a:lnTo>
                    <a:pt x="5236268" y="1947857"/>
                  </a:lnTo>
                  <a:lnTo>
                    <a:pt x="5218845" y="1959604"/>
                  </a:lnTo>
                  <a:lnTo>
                    <a:pt x="5197509" y="1963911"/>
                  </a:lnTo>
                  <a:close/>
                </a:path>
              </a:pathLst>
            </a:custGeom>
            <a:solidFill>
              <a:srgbClr val="1625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39804" y="406484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411050" y="502396"/>
                  </a:moveTo>
                  <a:lnTo>
                    <a:pt x="91345" y="502396"/>
                  </a:lnTo>
                  <a:lnTo>
                    <a:pt x="55789" y="495217"/>
                  </a:lnTo>
                  <a:lnTo>
                    <a:pt x="26754" y="475641"/>
                  </a:lnTo>
                  <a:lnTo>
                    <a:pt x="7178" y="446606"/>
                  </a:lnTo>
                  <a:lnTo>
                    <a:pt x="0" y="411050"/>
                  </a:lnTo>
                  <a:lnTo>
                    <a:pt x="0" y="91345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5" y="0"/>
                  </a:lnTo>
                  <a:lnTo>
                    <a:pt x="411050" y="0"/>
                  </a:lnTo>
                  <a:lnTo>
                    <a:pt x="461729" y="15347"/>
                  </a:lnTo>
                  <a:lnTo>
                    <a:pt x="495442" y="56389"/>
                  </a:lnTo>
                  <a:lnTo>
                    <a:pt x="502395" y="91345"/>
                  </a:lnTo>
                  <a:lnTo>
                    <a:pt x="502395" y="411050"/>
                  </a:lnTo>
                  <a:lnTo>
                    <a:pt x="495217" y="446606"/>
                  </a:lnTo>
                  <a:lnTo>
                    <a:pt x="475641" y="475641"/>
                  </a:lnTo>
                  <a:lnTo>
                    <a:pt x="446606" y="495217"/>
                  </a:lnTo>
                  <a:lnTo>
                    <a:pt x="411050" y="502396"/>
                  </a:lnTo>
                  <a:close/>
                </a:path>
              </a:pathLst>
            </a:custGeom>
            <a:solidFill>
              <a:srgbClr val="17C6C6">
                <a:alpha val="85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623099" y="4166956"/>
            <a:ext cx="128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2" name="object 32"/>
          <p:cNvSpPr txBox="1"/>
          <p:nvPr/>
        </p:nvSpPr>
        <p:spPr>
          <a:xfrm>
            <a:off x="7203520" y="4167908"/>
            <a:ext cx="2366010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Robustness</a:t>
            </a:r>
            <a:r>
              <a:rPr dirty="0" sz="14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dirty="0" sz="14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Scenes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18434" y="4891498"/>
            <a:ext cx="4261485" cy="444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Moving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people,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changing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scale,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or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shaking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camera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can</a:t>
            </a:r>
            <a:r>
              <a:rPr dirty="0" sz="1100" spc="5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confuse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tracking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algorithms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that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assume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mostly</a:t>
            </a:r>
            <a:r>
              <a:rPr dirty="0" sz="1100" spc="6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C8D3E3"/>
                </a:solidFill>
                <a:latin typeface="Calibri"/>
                <a:cs typeface="Calibri"/>
              </a:rPr>
              <a:t>static</a:t>
            </a:r>
            <a:r>
              <a:rPr dirty="0" sz="1100" spc="6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C8D3E3"/>
                </a:solidFill>
                <a:latin typeface="Calibri"/>
                <a:cs typeface="Calibri"/>
              </a:rPr>
              <a:t>scene.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08508" y="0"/>
            <a:ext cx="2771140" cy="2192655"/>
          </a:xfrm>
          <a:custGeom>
            <a:avLst/>
            <a:gdLst/>
            <a:ahLst/>
            <a:cxnLst/>
            <a:rect l="l" t="t" r="r" b="b"/>
            <a:pathLst>
              <a:path w="2771140" h="2192655">
                <a:moveTo>
                  <a:pt x="1461515" y="2192273"/>
                </a:moveTo>
                <a:lnTo>
                  <a:pt x="1413272" y="2191492"/>
                </a:lnTo>
                <a:lnTo>
                  <a:pt x="1365420" y="2189165"/>
                </a:lnTo>
                <a:lnTo>
                  <a:pt x="1317983" y="2185315"/>
                </a:lnTo>
                <a:lnTo>
                  <a:pt x="1270985" y="2179967"/>
                </a:lnTo>
                <a:lnTo>
                  <a:pt x="1224450" y="2173145"/>
                </a:lnTo>
                <a:lnTo>
                  <a:pt x="1178402" y="2164872"/>
                </a:lnTo>
                <a:lnTo>
                  <a:pt x="1132865" y="2155174"/>
                </a:lnTo>
                <a:lnTo>
                  <a:pt x="1087864" y="2144074"/>
                </a:lnTo>
                <a:lnTo>
                  <a:pt x="1043422" y="2131596"/>
                </a:lnTo>
                <a:lnTo>
                  <a:pt x="999563" y="2117764"/>
                </a:lnTo>
                <a:lnTo>
                  <a:pt x="956312" y="2102603"/>
                </a:lnTo>
                <a:lnTo>
                  <a:pt x="913693" y="2086136"/>
                </a:lnTo>
                <a:lnTo>
                  <a:pt x="871729" y="2068387"/>
                </a:lnTo>
                <a:lnTo>
                  <a:pt x="830445" y="2049381"/>
                </a:lnTo>
                <a:lnTo>
                  <a:pt x="789865" y="2029142"/>
                </a:lnTo>
                <a:lnTo>
                  <a:pt x="750012" y="2007693"/>
                </a:lnTo>
                <a:lnTo>
                  <a:pt x="710912" y="1985059"/>
                </a:lnTo>
                <a:lnTo>
                  <a:pt x="672587" y="1961263"/>
                </a:lnTo>
                <a:lnTo>
                  <a:pt x="635063" y="1936331"/>
                </a:lnTo>
                <a:lnTo>
                  <a:pt x="598363" y="1910286"/>
                </a:lnTo>
                <a:lnTo>
                  <a:pt x="562511" y="1883151"/>
                </a:lnTo>
                <a:lnTo>
                  <a:pt x="527532" y="1854952"/>
                </a:lnTo>
                <a:lnTo>
                  <a:pt x="493448" y="1825712"/>
                </a:lnTo>
                <a:lnTo>
                  <a:pt x="460286" y="1795455"/>
                </a:lnTo>
                <a:lnTo>
                  <a:pt x="428067" y="1764205"/>
                </a:lnTo>
                <a:lnTo>
                  <a:pt x="396818" y="1731987"/>
                </a:lnTo>
                <a:lnTo>
                  <a:pt x="366561" y="1698824"/>
                </a:lnTo>
                <a:lnTo>
                  <a:pt x="337321" y="1664741"/>
                </a:lnTo>
                <a:lnTo>
                  <a:pt x="309122" y="1629762"/>
                </a:lnTo>
                <a:lnTo>
                  <a:pt x="281987" y="1593910"/>
                </a:lnTo>
                <a:lnTo>
                  <a:pt x="255942" y="1557210"/>
                </a:lnTo>
                <a:lnTo>
                  <a:pt x="231009" y="1519685"/>
                </a:lnTo>
                <a:lnTo>
                  <a:pt x="207214" y="1481361"/>
                </a:lnTo>
                <a:lnTo>
                  <a:pt x="184580" y="1442261"/>
                </a:lnTo>
                <a:lnTo>
                  <a:pt x="163131" y="1402408"/>
                </a:lnTo>
                <a:lnTo>
                  <a:pt x="142892" y="1361828"/>
                </a:lnTo>
                <a:lnTo>
                  <a:pt x="123886" y="1320544"/>
                </a:lnTo>
                <a:lnTo>
                  <a:pt x="106137" y="1278580"/>
                </a:lnTo>
                <a:lnTo>
                  <a:pt x="89670" y="1235961"/>
                </a:lnTo>
                <a:lnTo>
                  <a:pt x="74509" y="1192710"/>
                </a:lnTo>
                <a:lnTo>
                  <a:pt x="60677" y="1148851"/>
                </a:lnTo>
                <a:lnTo>
                  <a:pt x="48199" y="1104409"/>
                </a:lnTo>
                <a:lnTo>
                  <a:pt x="37099" y="1059408"/>
                </a:lnTo>
                <a:lnTo>
                  <a:pt x="27400" y="1013871"/>
                </a:lnTo>
                <a:lnTo>
                  <a:pt x="19128" y="967823"/>
                </a:lnTo>
                <a:lnTo>
                  <a:pt x="12306" y="921288"/>
                </a:lnTo>
                <a:lnTo>
                  <a:pt x="6958" y="874290"/>
                </a:lnTo>
                <a:lnTo>
                  <a:pt x="3108" y="826853"/>
                </a:lnTo>
                <a:lnTo>
                  <a:pt x="781" y="779000"/>
                </a:lnTo>
                <a:lnTo>
                  <a:pt x="0" y="730757"/>
                </a:lnTo>
                <a:lnTo>
                  <a:pt x="781" y="682515"/>
                </a:lnTo>
                <a:lnTo>
                  <a:pt x="3108" y="634662"/>
                </a:lnTo>
                <a:lnTo>
                  <a:pt x="6958" y="587225"/>
                </a:lnTo>
                <a:lnTo>
                  <a:pt x="12306" y="540227"/>
                </a:lnTo>
                <a:lnTo>
                  <a:pt x="19128" y="493692"/>
                </a:lnTo>
                <a:lnTo>
                  <a:pt x="27400" y="447644"/>
                </a:lnTo>
                <a:lnTo>
                  <a:pt x="37099" y="402107"/>
                </a:lnTo>
                <a:lnTo>
                  <a:pt x="48199" y="357106"/>
                </a:lnTo>
                <a:lnTo>
                  <a:pt x="60677" y="312664"/>
                </a:lnTo>
                <a:lnTo>
                  <a:pt x="74509" y="268805"/>
                </a:lnTo>
                <a:lnTo>
                  <a:pt x="89670" y="225554"/>
                </a:lnTo>
                <a:lnTo>
                  <a:pt x="106137" y="182935"/>
                </a:lnTo>
                <a:lnTo>
                  <a:pt x="123886" y="140971"/>
                </a:lnTo>
                <a:lnTo>
                  <a:pt x="142892" y="99687"/>
                </a:lnTo>
                <a:lnTo>
                  <a:pt x="163176" y="59023"/>
                </a:lnTo>
                <a:lnTo>
                  <a:pt x="184580" y="19254"/>
                </a:lnTo>
                <a:lnTo>
                  <a:pt x="195726" y="0"/>
                </a:lnTo>
                <a:lnTo>
                  <a:pt x="2727005" y="0"/>
                </a:lnTo>
                <a:lnTo>
                  <a:pt x="2735949" y="15316"/>
                </a:lnTo>
                <a:lnTo>
                  <a:pt x="2759516" y="59023"/>
                </a:lnTo>
                <a:lnTo>
                  <a:pt x="2770790" y="81746"/>
                </a:lnTo>
                <a:lnTo>
                  <a:pt x="2770790" y="1380572"/>
                </a:lnTo>
                <a:lnTo>
                  <a:pt x="2738451" y="1442261"/>
                </a:lnTo>
                <a:lnTo>
                  <a:pt x="2715816" y="1481361"/>
                </a:lnTo>
                <a:lnTo>
                  <a:pt x="2692021" y="1519685"/>
                </a:lnTo>
                <a:lnTo>
                  <a:pt x="2667089" y="1557210"/>
                </a:lnTo>
                <a:lnTo>
                  <a:pt x="2641043" y="1593910"/>
                </a:lnTo>
                <a:lnTo>
                  <a:pt x="2613909" y="1629762"/>
                </a:lnTo>
                <a:lnTo>
                  <a:pt x="2585710" y="1664741"/>
                </a:lnTo>
                <a:lnTo>
                  <a:pt x="2556470" y="1698824"/>
                </a:lnTo>
                <a:lnTo>
                  <a:pt x="2526213" y="1731987"/>
                </a:lnTo>
                <a:lnTo>
                  <a:pt x="2494963" y="1764205"/>
                </a:lnTo>
                <a:lnTo>
                  <a:pt x="2462745" y="1795455"/>
                </a:lnTo>
                <a:lnTo>
                  <a:pt x="2429582" y="1825712"/>
                </a:lnTo>
                <a:lnTo>
                  <a:pt x="2395499" y="1854952"/>
                </a:lnTo>
                <a:lnTo>
                  <a:pt x="2360520" y="1883151"/>
                </a:lnTo>
                <a:lnTo>
                  <a:pt x="2324668" y="1910286"/>
                </a:lnTo>
                <a:lnTo>
                  <a:pt x="2287968" y="1936331"/>
                </a:lnTo>
                <a:lnTo>
                  <a:pt x="2250443" y="1961263"/>
                </a:lnTo>
                <a:lnTo>
                  <a:pt x="2212119" y="1985059"/>
                </a:lnTo>
                <a:lnTo>
                  <a:pt x="2173018" y="2007693"/>
                </a:lnTo>
                <a:lnTo>
                  <a:pt x="2133166" y="2029142"/>
                </a:lnTo>
                <a:lnTo>
                  <a:pt x="2092586" y="2049381"/>
                </a:lnTo>
                <a:lnTo>
                  <a:pt x="2051302" y="2068387"/>
                </a:lnTo>
                <a:lnTo>
                  <a:pt x="2009338" y="2086136"/>
                </a:lnTo>
                <a:lnTo>
                  <a:pt x="1966719" y="2102603"/>
                </a:lnTo>
                <a:lnTo>
                  <a:pt x="1923467" y="2117764"/>
                </a:lnTo>
                <a:lnTo>
                  <a:pt x="1879609" y="2131596"/>
                </a:lnTo>
                <a:lnTo>
                  <a:pt x="1835167" y="2144074"/>
                </a:lnTo>
                <a:lnTo>
                  <a:pt x="1790165" y="2155174"/>
                </a:lnTo>
                <a:lnTo>
                  <a:pt x="1744629" y="2164872"/>
                </a:lnTo>
                <a:lnTo>
                  <a:pt x="1698581" y="2173145"/>
                </a:lnTo>
                <a:lnTo>
                  <a:pt x="1652046" y="2179967"/>
                </a:lnTo>
                <a:lnTo>
                  <a:pt x="1605048" y="2185315"/>
                </a:lnTo>
                <a:lnTo>
                  <a:pt x="1557610" y="2189165"/>
                </a:lnTo>
                <a:lnTo>
                  <a:pt x="1509758" y="2191492"/>
                </a:lnTo>
                <a:lnTo>
                  <a:pt x="1461515" y="2192273"/>
                </a:lnTo>
                <a:close/>
              </a:path>
            </a:pathLst>
          </a:custGeom>
          <a:solidFill>
            <a:srgbClr val="17C6C6">
              <a:alpha val="101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4704254"/>
            <a:ext cx="1918335" cy="2153920"/>
            <a:chOff x="0" y="4704254"/>
            <a:chExt cx="1918335" cy="2153920"/>
          </a:xfrm>
        </p:grpSpPr>
        <p:sp>
          <p:nvSpPr>
            <p:cNvPr id="4" name="object 4"/>
            <p:cNvSpPr/>
            <p:nvPr/>
          </p:nvSpPr>
          <p:spPr>
            <a:xfrm>
              <a:off x="0" y="5115305"/>
              <a:ext cx="1918335" cy="1743075"/>
            </a:xfrm>
            <a:custGeom>
              <a:avLst/>
              <a:gdLst/>
              <a:ahLst/>
              <a:cxnLst/>
              <a:rect l="l" t="t" r="r" b="b"/>
              <a:pathLst>
                <a:path w="1918335" h="1743075">
                  <a:moveTo>
                    <a:pt x="1866975" y="1742694"/>
                  </a:moveTo>
                  <a:lnTo>
                    <a:pt x="0" y="1742694"/>
                  </a:lnTo>
                  <a:lnTo>
                    <a:pt x="0" y="114086"/>
                  </a:lnTo>
                  <a:lnTo>
                    <a:pt x="46323" y="94778"/>
                  </a:lnTo>
                  <a:lnTo>
                    <a:pt x="89039" y="78782"/>
                  </a:lnTo>
                  <a:lnTo>
                    <a:pt x="132416" y="64180"/>
                  </a:lnTo>
                  <a:lnTo>
                    <a:pt x="176427" y="51000"/>
                  </a:lnTo>
                  <a:lnTo>
                    <a:pt x="221045" y="39269"/>
                  </a:lnTo>
                  <a:lnTo>
                    <a:pt x="266242" y="29013"/>
                  </a:lnTo>
                  <a:lnTo>
                    <a:pt x="311991" y="20261"/>
                  </a:lnTo>
                  <a:lnTo>
                    <a:pt x="358265" y="13039"/>
                  </a:lnTo>
                  <a:lnTo>
                    <a:pt x="405037" y="7375"/>
                  </a:lnTo>
                  <a:lnTo>
                    <a:pt x="452279" y="3296"/>
                  </a:lnTo>
                  <a:lnTo>
                    <a:pt x="499966" y="828"/>
                  </a:lnTo>
                  <a:lnTo>
                    <a:pt x="548068" y="0"/>
                  </a:lnTo>
                  <a:lnTo>
                    <a:pt x="594017" y="828"/>
                  </a:lnTo>
                  <a:lnTo>
                    <a:pt x="596354" y="828"/>
                  </a:lnTo>
                  <a:lnTo>
                    <a:pt x="646748" y="3555"/>
                  </a:lnTo>
                  <a:lnTo>
                    <a:pt x="695704" y="7972"/>
                  </a:lnTo>
                  <a:lnTo>
                    <a:pt x="744345" y="14125"/>
                  </a:lnTo>
                  <a:lnTo>
                    <a:pt x="792629" y="21996"/>
                  </a:lnTo>
                  <a:lnTo>
                    <a:pt x="840512" y="31567"/>
                  </a:lnTo>
                  <a:lnTo>
                    <a:pt x="887952" y="42820"/>
                  </a:lnTo>
                  <a:lnTo>
                    <a:pt x="934905" y="55738"/>
                  </a:lnTo>
                  <a:lnTo>
                    <a:pt x="981328" y="70302"/>
                  </a:lnTo>
                  <a:lnTo>
                    <a:pt x="1027177" y="86495"/>
                  </a:lnTo>
                  <a:lnTo>
                    <a:pt x="1072410" y="104298"/>
                  </a:lnTo>
                  <a:lnTo>
                    <a:pt x="1116983" y="123693"/>
                  </a:lnTo>
                  <a:lnTo>
                    <a:pt x="1160853" y="144664"/>
                  </a:lnTo>
                  <a:lnTo>
                    <a:pt x="1203977" y="167192"/>
                  </a:lnTo>
                  <a:lnTo>
                    <a:pt x="1246312" y="191258"/>
                  </a:lnTo>
                  <a:lnTo>
                    <a:pt x="1287814" y="216846"/>
                  </a:lnTo>
                  <a:lnTo>
                    <a:pt x="1328441" y="243937"/>
                  </a:lnTo>
                  <a:lnTo>
                    <a:pt x="1368148" y="272513"/>
                  </a:lnTo>
                  <a:lnTo>
                    <a:pt x="1406894" y="302557"/>
                  </a:lnTo>
                  <a:lnTo>
                    <a:pt x="1444634" y="334050"/>
                  </a:lnTo>
                  <a:lnTo>
                    <a:pt x="1481325" y="366975"/>
                  </a:lnTo>
                  <a:lnTo>
                    <a:pt x="1516925" y="401314"/>
                  </a:lnTo>
                  <a:lnTo>
                    <a:pt x="1551264" y="436913"/>
                  </a:lnTo>
                  <a:lnTo>
                    <a:pt x="1584189" y="473605"/>
                  </a:lnTo>
                  <a:lnTo>
                    <a:pt x="1615682" y="511345"/>
                  </a:lnTo>
                  <a:lnTo>
                    <a:pt x="1645726" y="550091"/>
                  </a:lnTo>
                  <a:lnTo>
                    <a:pt x="1674302" y="589798"/>
                  </a:lnTo>
                  <a:lnTo>
                    <a:pt x="1701393" y="630425"/>
                  </a:lnTo>
                  <a:lnTo>
                    <a:pt x="1726981" y="671927"/>
                  </a:lnTo>
                  <a:lnTo>
                    <a:pt x="1751047" y="714262"/>
                  </a:lnTo>
                  <a:lnTo>
                    <a:pt x="1773575" y="757386"/>
                  </a:lnTo>
                  <a:lnTo>
                    <a:pt x="1794545" y="801256"/>
                  </a:lnTo>
                  <a:lnTo>
                    <a:pt x="1813941" y="845829"/>
                  </a:lnTo>
                  <a:lnTo>
                    <a:pt x="1831744" y="891062"/>
                  </a:lnTo>
                  <a:lnTo>
                    <a:pt x="1847937" y="936911"/>
                  </a:lnTo>
                  <a:lnTo>
                    <a:pt x="1862501" y="983334"/>
                  </a:lnTo>
                  <a:lnTo>
                    <a:pt x="1875418" y="1030287"/>
                  </a:lnTo>
                  <a:lnTo>
                    <a:pt x="1886671" y="1077727"/>
                  </a:lnTo>
                  <a:lnTo>
                    <a:pt x="1896243" y="1125610"/>
                  </a:lnTo>
                  <a:lnTo>
                    <a:pt x="1904114" y="1173894"/>
                  </a:lnTo>
                  <a:lnTo>
                    <a:pt x="1910267" y="1222535"/>
                  </a:lnTo>
                  <a:lnTo>
                    <a:pt x="1914684" y="1271490"/>
                  </a:lnTo>
                  <a:lnTo>
                    <a:pt x="1917347" y="1320717"/>
                  </a:lnTo>
                  <a:lnTo>
                    <a:pt x="1918239" y="1370171"/>
                  </a:lnTo>
                  <a:lnTo>
                    <a:pt x="1917411" y="1418273"/>
                  </a:lnTo>
                  <a:lnTo>
                    <a:pt x="1914943" y="1465959"/>
                  </a:lnTo>
                  <a:lnTo>
                    <a:pt x="1910863" y="1513202"/>
                  </a:lnTo>
                  <a:lnTo>
                    <a:pt x="1905199" y="1559974"/>
                  </a:lnTo>
                  <a:lnTo>
                    <a:pt x="1897977" y="1606248"/>
                  </a:lnTo>
                  <a:lnTo>
                    <a:pt x="1889225" y="1651997"/>
                  </a:lnTo>
                  <a:lnTo>
                    <a:pt x="1878970" y="1697194"/>
                  </a:lnTo>
                  <a:lnTo>
                    <a:pt x="1867239" y="1741811"/>
                  </a:lnTo>
                  <a:lnTo>
                    <a:pt x="1866975" y="1742694"/>
                  </a:lnTo>
                  <a:close/>
                </a:path>
              </a:pathLst>
            </a:custGeom>
            <a:solidFill>
              <a:srgbClr val="F1A83B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9413" y="470425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74513" y="456723"/>
                  </a:moveTo>
                  <a:lnTo>
                    <a:pt x="82210" y="456723"/>
                  </a:lnTo>
                  <a:lnTo>
                    <a:pt x="50210" y="450263"/>
                  </a:lnTo>
                  <a:lnTo>
                    <a:pt x="24078" y="432644"/>
                  </a:lnTo>
                  <a:lnTo>
                    <a:pt x="6460" y="406513"/>
                  </a:lnTo>
                  <a:lnTo>
                    <a:pt x="0" y="374513"/>
                  </a:lnTo>
                  <a:lnTo>
                    <a:pt x="0" y="82209"/>
                  </a:lnTo>
                  <a:lnTo>
                    <a:pt x="6460" y="50209"/>
                  </a:lnTo>
                  <a:lnTo>
                    <a:pt x="24078" y="24078"/>
                  </a:lnTo>
                  <a:lnTo>
                    <a:pt x="50210" y="6460"/>
                  </a:lnTo>
                  <a:lnTo>
                    <a:pt x="82210" y="0"/>
                  </a:lnTo>
                  <a:lnTo>
                    <a:pt x="374513" y="0"/>
                  </a:lnTo>
                  <a:lnTo>
                    <a:pt x="420123" y="13812"/>
                  </a:lnTo>
                  <a:lnTo>
                    <a:pt x="450465" y="50749"/>
                  </a:lnTo>
                  <a:lnTo>
                    <a:pt x="456723" y="82209"/>
                  </a:lnTo>
                  <a:lnTo>
                    <a:pt x="456723" y="374513"/>
                  </a:lnTo>
                  <a:lnTo>
                    <a:pt x="450263" y="406513"/>
                  </a:lnTo>
                  <a:lnTo>
                    <a:pt x="432644" y="432644"/>
                  </a:lnTo>
                  <a:lnTo>
                    <a:pt x="406513" y="450263"/>
                  </a:lnTo>
                  <a:lnTo>
                    <a:pt x="374513" y="456723"/>
                  </a:lnTo>
                  <a:close/>
                </a:path>
              </a:pathLst>
            </a:custGeom>
            <a:solidFill>
              <a:srgbClr val="F1A83B">
                <a:alpha val="9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18042" y="569305"/>
            <a:ext cx="7715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7C6C6"/>
                </a:solidFill>
                <a:latin typeface="Calibri"/>
                <a:cs typeface="Calibri"/>
              </a:rPr>
              <a:t>Conclusion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18042" y="881717"/>
            <a:ext cx="2367915" cy="482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000">
                <a:solidFill>
                  <a:srgbClr val="FFFFFF"/>
                </a:solidFill>
              </a:rPr>
              <a:t>Key</a:t>
            </a:r>
            <a:r>
              <a:rPr dirty="0" sz="3000" spc="-120">
                <a:solidFill>
                  <a:srgbClr val="FFFFFF"/>
                </a:solidFill>
              </a:rPr>
              <a:t> </a:t>
            </a:r>
            <a:r>
              <a:rPr dirty="0" sz="3000" spc="-50">
                <a:solidFill>
                  <a:srgbClr val="FFFFFF"/>
                </a:solidFill>
              </a:rPr>
              <a:t>Takeaways</a:t>
            </a:r>
            <a:endParaRPr sz="3000"/>
          </a:p>
        </p:txBody>
      </p:sp>
      <p:sp>
        <p:nvSpPr>
          <p:cNvPr id="8" name="object 8"/>
          <p:cNvSpPr/>
          <p:nvPr/>
        </p:nvSpPr>
        <p:spPr>
          <a:xfrm>
            <a:off x="639413" y="18268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4513" y="456723"/>
                </a:moveTo>
                <a:lnTo>
                  <a:pt x="82210" y="456723"/>
                </a:lnTo>
                <a:lnTo>
                  <a:pt x="50210" y="450263"/>
                </a:lnTo>
                <a:lnTo>
                  <a:pt x="24078" y="432644"/>
                </a:lnTo>
                <a:lnTo>
                  <a:pt x="6460" y="406513"/>
                </a:lnTo>
                <a:lnTo>
                  <a:pt x="0" y="374513"/>
                </a:lnTo>
                <a:lnTo>
                  <a:pt x="0" y="82210"/>
                </a:lnTo>
                <a:lnTo>
                  <a:pt x="6460" y="50210"/>
                </a:lnTo>
                <a:lnTo>
                  <a:pt x="24078" y="24078"/>
                </a:lnTo>
                <a:lnTo>
                  <a:pt x="50210" y="6460"/>
                </a:lnTo>
                <a:lnTo>
                  <a:pt x="82210" y="0"/>
                </a:lnTo>
                <a:lnTo>
                  <a:pt x="374513" y="0"/>
                </a:lnTo>
                <a:lnTo>
                  <a:pt x="420123" y="13812"/>
                </a:lnTo>
                <a:lnTo>
                  <a:pt x="450465" y="50749"/>
                </a:lnTo>
                <a:lnTo>
                  <a:pt x="456723" y="82210"/>
                </a:lnTo>
                <a:lnTo>
                  <a:pt x="456723" y="374513"/>
                </a:lnTo>
                <a:lnTo>
                  <a:pt x="450263" y="406513"/>
                </a:lnTo>
                <a:lnTo>
                  <a:pt x="432644" y="432644"/>
                </a:lnTo>
                <a:lnTo>
                  <a:pt x="406513" y="450263"/>
                </a:lnTo>
                <a:lnTo>
                  <a:pt x="374513" y="456723"/>
                </a:lnTo>
                <a:close/>
              </a:path>
            </a:pathLst>
          </a:custGeom>
          <a:solidFill>
            <a:srgbClr val="17C6C6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3678" y="1918860"/>
            <a:ext cx="12192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0" b="1">
                <a:solidFill>
                  <a:srgbClr val="0D1B33"/>
                </a:solidFill>
                <a:latin typeface="Calibri"/>
                <a:cs typeface="Calibri"/>
              </a:rPr>
              <a:t>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7456" y="1918860"/>
            <a:ext cx="149923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Graphics</a:t>
            </a:r>
            <a:r>
              <a:rPr dirty="0" sz="15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vs.</a:t>
            </a:r>
            <a:r>
              <a:rPr dirty="0" sz="15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Vision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59314" y="1883465"/>
            <a:ext cx="581406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Graphics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renders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3-D</a:t>
            </a:r>
            <a:r>
              <a:rPr dirty="0" sz="12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into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an</a:t>
            </a:r>
            <a:r>
              <a:rPr dirty="0" sz="12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image;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vision</a:t>
            </a:r>
            <a:r>
              <a:rPr dirty="0" sz="12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recovers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3-D</a:t>
            </a:r>
            <a:r>
              <a:rPr dirty="0" sz="12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understanding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from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an</a:t>
            </a:r>
            <a:r>
              <a:rPr dirty="0" sz="12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image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—</a:t>
            </a:r>
            <a:r>
              <a:rPr dirty="0" sz="12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C8D3E3"/>
                </a:solidFill>
                <a:latin typeface="Calibri"/>
                <a:cs typeface="Calibri"/>
              </a:rPr>
              <a:t>AR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needs</a:t>
            </a:r>
            <a:r>
              <a:rPr dirty="0" sz="12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both,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working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8D3E3"/>
                </a:solidFill>
                <a:latin typeface="Calibri"/>
                <a:cs typeface="Calibri"/>
              </a:rPr>
              <a:t>together.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9413" y="27860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4513" y="456723"/>
                </a:moveTo>
                <a:lnTo>
                  <a:pt x="82210" y="456723"/>
                </a:lnTo>
                <a:lnTo>
                  <a:pt x="50210" y="450263"/>
                </a:lnTo>
                <a:lnTo>
                  <a:pt x="24078" y="432644"/>
                </a:lnTo>
                <a:lnTo>
                  <a:pt x="6460" y="406513"/>
                </a:lnTo>
                <a:lnTo>
                  <a:pt x="0" y="374513"/>
                </a:lnTo>
                <a:lnTo>
                  <a:pt x="0" y="82210"/>
                </a:lnTo>
                <a:lnTo>
                  <a:pt x="6460" y="50210"/>
                </a:lnTo>
                <a:lnTo>
                  <a:pt x="24078" y="24078"/>
                </a:lnTo>
                <a:lnTo>
                  <a:pt x="50210" y="6460"/>
                </a:lnTo>
                <a:lnTo>
                  <a:pt x="82210" y="0"/>
                </a:lnTo>
                <a:lnTo>
                  <a:pt x="374513" y="0"/>
                </a:lnTo>
                <a:lnTo>
                  <a:pt x="420123" y="13812"/>
                </a:lnTo>
                <a:lnTo>
                  <a:pt x="450465" y="50749"/>
                </a:lnTo>
                <a:lnTo>
                  <a:pt x="456723" y="82210"/>
                </a:lnTo>
                <a:lnTo>
                  <a:pt x="456723" y="374513"/>
                </a:lnTo>
                <a:lnTo>
                  <a:pt x="450263" y="406513"/>
                </a:lnTo>
                <a:lnTo>
                  <a:pt x="432644" y="432644"/>
                </a:lnTo>
                <a:lnTo>
                  <a:pt x="406513" y="450263"/>
                </a:lnTo>
                <a:lnTo>
                  <a:pt x="374513" y="456723"/>
                </a:lnTo>
                <a:close/>
              </a:path>
            </a:pathLst>
          </a:custGeom>
          <a:solidFill>
            <a:srgbClr val="17C6C6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03678" y="2877980"/>
            <a:ext cx="12192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0" b="1">
                <a:solidFill>
                  <a:srgbClr val="0D1B33"/>
                </a:solidFill>
                <a:latin typeface="Calibri"/>
                <a:cs typeface="Calibri"/>
              </a:rPr>
              <a:t>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7456" y="2877980"/>
            <a:ext cx="1184275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Camera</a:t>
            </a:r>
            <a:r>
              <a:rPr dirty="0" sz="15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59314" y="2842584"/>
            <a:ext cx="558419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same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pinhole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camera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model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connects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the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two: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vision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uses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it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in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reverse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to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find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8D3E3"/>
                </a:solidFill>
                <a:latin typeface="Calibri"/>
                <a:cs typeface="Calibri"/>
              </a:rPr>
              <a:t>pose,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graphics</a:t>
            </a:r>
            <a:r>
              <a:rPr dirty="0" sz="1200" spc="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uses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it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forward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to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draw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8D3E3"/>
                </a:solidFill>
                <a:latin typeface="Calibri"/>
                <a:cs typeface="Calibri"/>
              </a:rPr>
              <a:t>objects.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9413" y="374513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4513" y="456723"/>
                </a:moveTo>
                <a:lnTo>
                  <a:pt x="82210" y="456723"/>
                </a:lnTo>
                <a:lnTo>
                  <a:pt x="50210" y="450263"/>
                </a:lnTo>
                <a:lnTo>
                  <a:pt x="24078" y="432644"/>
                </a:lnTo>
                <a:lnTo>
                  <a:pt x="6460" y="406513"/>
                </a:lnTo>
                <a:lnTo>
                  <a:pt x="0" y="374513"/>
                </a:lnTo>
                <a:lnTo>
                  <a:pt x="0" y="82210"/>
                </a:lnTo>
                <a:lnTo>
                  <a:pt x="6460" y="50210"/>
                </a:lnTo>
                <a:lnTo>
                  <a:pt x="24078" y="24078"/>
                </a:lnTo>
                <a:lnTo>
                  <a:pt x="50210" y="6460"/>
                </a:lnTo>
                <a:lnTo>
                  <a:pt x="82210" y="0"/>
                </a:lnTo>
                <a:lnTo>
                  <a:pt x="374513" y="0"/>
                </a:lnTo>
                <a:lnTo>
                  <a:pt x="420123" y="13812"/>
                </a:lnTo>
                <a:lnTo>
                  <a:pt x="450465" y="50749"/>
                </a:lnTo>
                <a:lnTo>
                  <a:pt x="456723" y="82210"/>
                </a:lnTo>
                <a:lnTo>
                  <a:pt x="456723" y="374513"/>
                </a:lnTo>
                <a:lnTo>
                  <a:pt x="450263" y="406513"/>
                </a:lnTo>
                <a:lnTo>
                  <a:pt x="432644" y="432644"/>
                </a:lnTo>
                <a:lnTo>
                  <a:pt x="406513" y="450263"/>
                </a:lnTo>
                <a:lnTo>
                  <a:pt x="374513" y="456723"/>
                </a:lnTo>
                <a:close/>
              </a:path>
            </a:pathLst>
          </a:custGeom>
          <a:solidFill>
            <a:srgbClr val="17C6C6">
              <a:alpha val="9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03678" y="3837100"/>
            <a:ext cx="12192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0" b="1">
                <a:solidFill>
                  <a:srgbClr val="0D1B33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pc="-10"/>
              <a:t>Computer</a:t>
            </a:r>
            <a:r>
              <a:rPr dirty="0" spc="-20"/>
              <a:t> </a:t>
            </a:r>
            <a:r>
              <a:rPr dirty="0"/>
              <a:t>Vision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OpenCV</a:t>
            </a:r>
            <a:r>
              <a:rPr dirty="0" spc="165"/>
              <a:t> </a:t>
            </a:r>
            <a:r>
              <a:rPr dirty="0"/>
              <a:t>•</a:t>
            </a:r>
            <a:r>
              <a:rPr dirty="0" spc="170"/>
              <a:t> </a:t>
            </a:r>
            <a:r>
              <a:rPr dirty="0" spc="-10"/>
              <a:t>DSA0202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1357456" y="3837100"/>
            <a:ext cx="175006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500" b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Constraints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59314" y="3801704"/>
            <a:ext cx="580707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Tracking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accuracy,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low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latency,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lighting/occlusion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handling,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and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mobile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compute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limits</a:t>
            </a:r>
            <a:r>
              <a:rPr dirty="0" sz="1200" spc="2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C8D3E3"/>
                </a:solidFill>
                <a:latin typeface="Calibri"/>
                <a:cs typeface="Calibri"/>
              </a:rPr>
              <a:t>must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all</a:t>
            </a:r>
            <a:r>
              <a:rPr dirty="0" sz="1200" spc="1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be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met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within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single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frame's</a:t>
            </a:r>
            <a:r>
              <a:rPr dirty="0" sz="1200" spc="2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time</a:t>
            </a:r>
            <a:r>
              <a:rPr dirty="0" sz="1200" spc="3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8D3E3"/>
                </a:solidFill>
                <a:latin typeface="Calibri"/>
                <a:cs typeface="Calibri"/>
              </a:rPr>
              <a:t>budget.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3678" y="4796220"/>
            <a:ext cx="12192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50" b="1">
                <a:solidFill>
                  <a:srgbClr val="0D1B33"/>
                </a:solidFill>
                <a:latin typeface="Calibri"/>
                <a:cs typeface="Calibri"/>
              </a:rPr>
              <a:t>4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7456" y="4796220"/>
            <a:ext cx="58928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59314" y="4760824"/>
            <a:ext cx="570992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90"/>
              </a:spcBef>
            </a:pP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successful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AR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app</a:t>
            </a:r>
            <a:r>
              <a:rPr dirty="0" sz="1200" spc="5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tightly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couples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vision-based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scene</a:t>
            </a:r>
            <a:r>
              <a:rPr dirty="0" sz="1200" spc="5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understanding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with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graphics-</a:t>
            </a:r>
            <a:r>
              <a:rPr dirty="0" sz="1200" spc="-10">
                <a:solidFill>
                  <a:srgbClr val="C8D3E3"/>
                </a:solidFill>
                <a:latin typeface="Calibri"/>
                <a:cs typeface="Calibri"/>
              </a:rPr>
              <a:t>based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rendering,</a:t>
            </a:r>
            <a:r>
              <a:rPr dirty="0" sz="12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refreshed</a:t>
            </a:r>
            <a:r>
              <a:rPr dirty="0" sz="12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continuously</a:t>
            </a:r>
            <a:r>
              <a:rPr dirty="0" sz="1200" spc="45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in</a:t>
            </a:r>
            <a:r>
              <a:rPr dirty="0" sz="12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C8D3E3"/>
                </a:solidFill>
                <a:latin typeface="Calibri"/>
                <a:cs typeface="Calibri"/>
              </a:rPr>
              <a:t>real</a:t>
            </a:r>
            <a:r>
              <a:rPr dirty="0" sz="1200" spc="40">
                <a:solidFill>
                  <a:srgbClr val="C8D3E3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C8D3E3"/>
                </a:solidFill>
                <a:latin typeface="Calibri"/>
                <a:cs typeface="Calibri"/>
              </a:rPr>
              <a:t>time.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8042" y="6016688"/>
            <a:ext cx="8947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solidFill>
                  <a:srgbClr val="17C6C6"/>
                </a:solidFill>
                <a:latin typeface="Calibri"/>
                <a:cs typeface="Calibri"/>
              </a:rPr>
              <a:t>Thank</a:t>
            </a:r>
            <a:r>
              <a:rPr dirty="0" sz="1600" spc="-50" b="1" i="1">
                <a:solidFill>
                  <a:srgbClr val="17C6C6"/>
                </a:solidFill>
                <a:latin typeface="Calibri"/>
                <a:cs typeface="Calibri"/>
              </a:rPr>
              <a:t> </a:t>
            </a:r>
            <a:r>
              <a:rPr dirty="0" sz="1600" spc="-25" b="1" i="1">
                <a:solidFill>
                  <a:srgbClr val="17C6C6"/>
                </a:solidFill>
                <a:latin typeface="Calibri"/>
                <a:cs typeface="Calibri"/>
              </a:rPr>
              <a:t>You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2026-07-21T08:37:15Z</dcterms:created>
  <dcterms:modified xsi:type="dcterms:W3CDTF">2026-07-21T08:37:15Z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2026-07-21T00:00:00Z</vt:filetime>
  </property>
  <property fmtid="{D5CDD505-2E9C-101B-9397-08002B2CF9AE}" pid="4" name="Producer">
    <vt:lpwstr>Skia/PDF m128</vt:lpwstr>
  </property>
  <property fmtid="{D5CDD505-2E9C-101B-9397-08002B2CF9AE}" pid="5" name="LastSaved">
    <vt:filetime>2026-07-21T00:00:00Z</vt:filetime>
  </property>
</Properties>
</file>