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19" r:id="rId2"/>
    <p:sldId id="444" r:id="rId3"/>
    <p:sldId id="316" r:id="rId4"/>
    <p:sldId id="436" r:id="rId5"/>
    <p:sldId id="445" r:id="rId6"/>
    <p:sldId id="417" r:id="rId7"/>
    <p:sldId id="446" r:id="rId8"/>
    <p:sldId id="447" r:id="rId9"/>
    <p:sldId id="448" r:id="rId10"/>
    <p:sldId id="449" r:id="rId11"/>
    <p:sldId id="450" r:id="rId12"/>
    <p:sldId id="451" r:id="rId13"/>
    <p:sldId id="45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D86F20-E4EF-455D-AE70-59028E14BD31}" v="32" dt="2026-08-25T03:24:58.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D6834-DD51-4C65-AA75-ADFD9817679C}" type="datetimeFigureOut">
              <a:rPr lang="en-IN" smtClean="0"/>
              <a:t>29-08-2026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3E46EE-876E-43B9-B420-74767618CEA2}" type="slidenum">
              <a:rPr lang="en-IN" smtClean="0"/>
              <a:t>‹#›</a:t>
            </a:fld>
            <a:endParaRPr lang="en-IN"/>
          </a:p>
        </p:txBody>
      </p:sp>
    </p:spTree>
    <p:extLst>
      <p:ext uri="{BB962C8B-B14F-4D97-AF65-F5344CB8AC3E}">
        <p14:creationId xmlns:p14="http://schemas.microsoft.com/office/powerpoint/2010/main" val="383700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14:hiddenLine>
            </a:ext>
          </a:extLst>
        </p:spPr>
        <p:txBody>
          <a:bodyPr/>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5pPr>
            <a:lvl6pPr marL="25146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6pPr>
            <a:lvl7pPr marL="29718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7pPr>
            <a:lvl8pPr marL="34290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8pPr>
            <a:lvl9pPr marL="38862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9pPr>
          </a:lstStyle>
          <a:p>
            <a:pPr eaLnBrk="1" hangingPunct="1"/>
            <a:fld id="{D9FA2010-55FA-4547-918F-B81D2B6C3183}" type="slidenum">
              <a:rPr lang="en-US" smtClean="0">
                <a:solidFill>
                  <a:srgbClr val="000000"/>
                </a:solidFill>
                <a:latin typeface="Calibri" panose="020F0502020204030204" pitchFamily="34" charset="0"/>
              </a:rPr>
              <a:t>1</a:t>
            </a:fld>
            <a:endParaRPr lang="en-US">
              <a:solidFill>
                <a:srgbClr val="000000"/>
              </a:solidFill>
              <a:latin typeface="Calibri" panose="020F0502020204030204" pitchFamily="34" charset="0"/>
            </a:endParaRPr>
          </a:p>
        </p:txBody>
      </p:sp>
      <p:sp>
        <p:nvSpPr>
          <p:cNvPr id="32771" name="Text Box 1"/>
          <p:cNvSpPr txBox="1">
            <a:spLocks noChangeArrowheads="1"/>
          </p:cNvSpPr>
          <p:nvPr/>
        </p:nvSpPr>
        <p:spPr bwMode="auto">
          <a:xfrm>
            <a:off x="3884613" y="8685213"/>
            <a:ext cx="2962275"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5pPr>
            <a:lvl6pPr marL="25146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6pPr>
            <a:lvl7pPr marL="29718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7pPr>
            <a:lvl8pPr marL="34290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8pPr>
            <a:lvl9pPr marL="38862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9pPr>
          </a:lstStyle>
          <a:p>
            <a:pPr algn="r" eaLnBrk="1" hangingPunct="1">
              <a:buClrTx/>
              <a:buFontTx/>
              <a:buNone/>
            </a:pPr>
            <a:fld id="{6D1301E2-06EF-4199-A0C2-61C79D07C605}" type="slidenum">
              <a:rPr lang="en-US" sz="1200">
                <a:solidFill>
                  <a:srgbClr val="000000"/>
                </a:solidFill>
                <a:latin typeface="Calibri" panose="020F0502020204030204" pitchFamily="34" charset="0"/>
              </a:rPr>
              <a:t>1</a:t>
            </a:fld>
            <a:endParaRPr lang="en-US" sz="1200">
              <a:solidFill>
                <a:srgbClr val="000000"/>
              </a:solidFill>
              <a:latin typeface="Calibri" panose="020F0502020204030204" pitchFamily="34" charset="0"/>
            </a:endParaRPr>
          </a:p>
        </p:txBody>
      </p:sp>
      <p:sp>
        <p:nvSpPr>
          <p:cNvPr id="32772" name="Text Box 2"/>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5pPr>
            <a:lvl6pPr marL="25146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6pPr>
            <a:lvl7pPr marL="29718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7pPr>
            <a:lvl8pPr marL="34290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8pPr>
            <a:lvl9pPr marL="38862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a:solidFill>
                  <a:schemeClr val="bg1"/>
                </a:solidFill>
                <a:latin typeface="Arial" panose="020B0604020202020204" pitchFamily="34" charset="0"/>
                <a:ea typeface="Droid Sans Fallback" charset="0"/>
                <a:cs typeface="Droid Sans Fallback" charset="0"/>
              </a:defRPr>
            </a:lvl9pPr>
          </a:lstStyle>
          <a:p>
            <a:pPr algn="r" eaLnBrk="1" hangingPunct="1">
              <a:buClrTx/>
              <a:buFontTx/>
              <a:buNone/>
            </a:pPr>
            <a:fld id="{445B1B0D-FD3A-430C-B5E7-9A25F0634E5E}" type="slidenum">
              <a:rPr lang="en-US" sz="1200">
                <a:solidFill>
                  <a:srgbClr val="000000"/>
                </a:solidFill>
                <a:latin typeface="Calibri" panose="020F0502020204030204" pitchFamily="34" charset="0"/>
              </a:rPr>
              <a:t>1</a:t>
            </a:fld>
            <a:endParaRPr lang="en-US" sz="1200">
              <a:solidFill>
                <a:srgbClr val="000000"/>
              </a:solidFill>
              <a:latin typeface="Calibri" panose="020F0502020204030204" pitchFamily="34" charset="0"/>
            </a:endParaRPr>
          </a:p>
        </p:txBody>
      </p:sp>
      <p:sp>
        <p:nvSpPr>
          <p:cNvPr id="32773" name="Rectangle 3"/>
          <p:cNvSpPr>
            <a:spLocks noGrp="1" noRot="1" noChangeAspect="1" noChangeArrowheads="1" noTextEdit="1"/>
          </p:cNvSpPr>
          <p:nvPr>
            <p:ph type="sldImg"/>
          </p:nvPr>
        </p:nvSpPr>
        <p:spPr>
          <a:xfrm>
            <a:off x="384175" y="685800"/>
            <a:ext cx="6083300" cy="3422650"/>
          </a:xfrm>
          <a:solidFill>
            <a:srgbClr val="FFFFFF"/>
          </a:solidFill>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4" name="Text Box 4"/>
          <p:cNvSpPr txBox="1">
            <a:spLocks noChangeArrowheads="1"/>
          </p:cNvSpPr>
          <p:nvPr/>
        </p:nvSpPr>
        <p:spPr bwMode="auto">
          <a:xfrm>
            <a:off x="685800" y="4343400"/>
            <a:ext cx="5480050" cy="410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2BDBFC-A737-4674-95A6-BD8FC3BBB881}" type="slidenum">
              <a:rPr lang="zh-CN" altLang="en-US" smtClean="0"/>
              <a:t>2</a:t>
            </a:fld>
            <a:endParaRPr lang="en-US" altLang="zh-CN"/>
          </a:p>
        </p:txBody>
      </p:sp>
    </p:spTree>
    <p:extLst>
      <p:ext uri="{BB962C8B-B14F-4D97-AF65-F5344CB8AC3E}">
        <p14:creationId xmlns:p14="http://schemas.microsoft.com/office/powerpoint/2010/main" val="3776515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2BDBFC-A737-4674-95A6-BD8FC3BBB881}" type="slidenum">
              <a:rPr lang="zh-CN" altLang="en-US"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2BDBFC-A737-4674-95A6-BD8FC3BBB881}" type="slidenum">
              <a:rPr lang="zh-CN" altLang="en-US" smtClean="0"/>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2BDBFC-A737-4674-95A6-BD8FC3BBB881}" type="slidenum">
              <a:rPr lang="zh-CN" altLang="en-US" smtClean="0"/>
              <a:t>5</a:t>
            </a:fld>
            <a:endParaRPr lang="en-US" altLang="zh-CN"/>
          </a:p>
        </p:txBody>
      </p:sp>
    </p:spTree>
    <p:extLst>
      <p:ext uri="{BB962C8B-B14F-4D97-AF65-F5344CB8AC3E}">
        <p14:creationId xmlns:p14="http://schemas.microsoft.com/office/powerpoint/2010/main" val="403436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2BDBFC-A737-4674-95A6-BD8FC3BBB881}" type="slidenum">
              <a:rPr lang="zh-CN" altLang="en-US" smtClean="0"/>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2BDBFC-A737-4674-95A6-BD8FC3BBB881}" type="slidenum">
              <a:rPr lang="zh-CN" altLang="en-US" smtClean="0"/>
              <a:t>7</a:t>
            </a:fld>
            <a:endParaRPr lang="en-US" altLang="zh-CN"/>
          </a:p>
        </p:txBody>
      </p:sp>
    </p:spTree>
    <p:extLst>
      <p:ext uri="{BB962C8B-B14F-4D97-AF65-F5344CB8AC3E}">
        <p14:creationId xmlns:p14="http://schemas.microsoft.com/office/powerpoint/2010/main" val="79635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B2BDBFC-A737-4674-95A6-BD8FC3BBB881}" type="slidenum">
              <a:rPr lang="zh-CN" altLang="en-US" smtClean="0"/>
              <a:t>8</a:t>
            </a:fld>
            <a:endParaRPr lang="en-US" altLang="zh-CN"/>
          </a:p>
        </p:txBody>
      </p:sp>
    </p:spTree>
    <p:extLst>
      <p:ext uri="{BB962C8B-B14F-4D97-AF65-F5344CB8AC3E}">
        <p14:creationId xmlns:p14="http://schemas.microsoft.com/office/powerpoint/2010/main" val="408379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8916-EE99-14B4-1F83-1F1987E92B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34881CC-3FC4-3E1B-9618-28FA293D4C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D866B1-C0D5-E0A3-11F4-59BB970345E6}"/>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5" name="Footer Placeholder 4">
            <a:extLst>
              <a:ext uri="{FF2B5EF4-FFF2-40B4-BE49-F238E27FC236}">
                <a16:creationId xmlns:a16="http://schemas.microsoft.com/office/drawing/2014/main" id="{06CDB322-F5A2-9A6F-0DA2-DDAEEC1A90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6BC246-811D-B5BD-6C89-CC5E925D3468}"/>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879225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D3393-75CD-DAF1-C702-7FD884A6BA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69B724-AD03-F1ED-7DD8-011B67E80E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232F94-F321-E272-3AC2-E3F99D807E51}"/>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5" name="Footer Placeholder 4">
            <a:extLst>
              <a:ext uri="{FF2B5EF4-FFF2-40B4-BE49-F238E27FC236}">
                <a16:creationId xmlns:a16="http://schemas.microsoft.com/office/drawing/2014/main" id="{605DDA9D-98C4-EAD7-607F-E61E732CCD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BEBC07-08B2-B3CE-8C37-07F74BBB6A75}"/>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3568347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636B0-8D3F-E224-D673-C49D91DB90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C1C99D-7B23-3B98-1827-DFF4A598AF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22945E-72C9-D6DA-96B4-FF3D9A4A4014}"/>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5" name="Footer Placeholder 4">
            <a:extLst>
              <a:ext uri="{FF2B5EF4-FFF2-40B4-BE49-F238E27FC236}">
                <a16:creationId xmlns:a16="http://schemas.microsoft.com/office/drawing/2014/main" id="{DE8EF09C-89E0-2FB0-38D4-03FA28EBD7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3FF1B0-206E-A296-4D5B-B07F0FB2ED90}"/>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1862522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DA51A-8B67-4F67-A2B3-4F85B2A392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AF5C06-BC46-C465-FA61-4AFBDC22BB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7444C8-F93D-879E-C828-577C8F16A8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CF2974-249B-B621-C316-658FC63017FE}"/>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6" name="Footer Placeholder 5">
            <a:extLst>
              <a:ext uri="{FF2B5EF4-FFF2-40B4-BE49-F238E27FC236}">
                <a16:creationId xmlns:a16="http://schemas.microsoft.com/office/drawing/2014/main" id="{AC18A063-FF5F-3148-33EE-4D37FF10EC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3D0281-FA8F-40FB-CBDE-294C87617359}"/>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3440814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3BF36-4FE3-B43B-BFF8-673E06B4E0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048D60-2088-2142-4FF1-AF7C162461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163B08-6FF8-22D6-4C1B-C0543A8B2A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49678C-3C4F-DE10-F52F-27369E91C6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A643F6-4E38-F98E-D33E-4757756F40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4D2FE0-C951-FFEE-F65E-CCF0FA8D08E9}"/>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8" name="Footer Placeholder 7">
            <a:extLst>
              <a:ext uri="{FF2B5EF4-FFF2-40B4-BE49-F238E27FC236}">
                <a16:creationId xmlns:a16="http://schemas.microsoft.com/office/drawing/2014/main" id="{6FEA1C67-ED08-E33E-5E5C-92E1C581B7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F17489-B6A5-7B37-94E5-CE5C4FE222CF}"/>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3111891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38D5C-27A2-02C1-54C8-D95C96F6B6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F00615-4A90-6A64-1A06-C549D9DCF072}"/>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4" name="Footer Placeholder 3">
            <a:extLst>
              <a:ext uri="{FF2B5EF4-FFF2-40B4-BE49-F238E27FC236}">
                <a16:creationId xmlns:a16="http://schemas.microsoft.com/office/drawing/2014/main" id="{A875B6F5-E265-6A1B-72E4-402A6DDA78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85A7D5-B71F-81CD-D65E-A4DEEEAB4C96}"/>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4262673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F380CB-BB44-6BBE-2ABE-ACA8C0818AB4}"/>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3" name="Footer Placeholder 2">
            <a:extLst>
              <a:ext uri="{FF2B5EF4-FFF2-40B4-BE49-F238E27FC236}">
                <a16:creationId xmlns:a16="http://schemas.microsoft.com/office/drawing/2014/main" id="{76C22E60-D79D-3215-5D48-E1A3C1A4FF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7F8567-3358-CECD-647D-BD3E910E406F}"/>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85309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03FA5-BD9D-CC05-09BE-95DFE4883D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B1D70D-5669-9CC5-3310-E4A939BBCA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2BB83D-03E9-E48E-2F12-333A7FF12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35C6DA-ACAD-BBF3-5143-E00DB34095BF}"/>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6" name="Footer Placeholder 5">
            <a:extLst>
              <a:ext uri="{FF2B5EF4-FFF2-40B4-BE49-F238E27FC236}">
                <a16:creationId xmlns:a16="http://schemas.microsoft.com/office/drawing/2014/main" id="{7CEF4FA5-ACF0-A260-D590-608B10DA15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6A5166-6B7A-B6FE-D981-DD266B6861CD}"/>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3688410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8CFFD-DBA5-A7DB-863B-5C36EC03B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1C731E-04ED-B440-AB78-63FAD2410C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19CD43-6076-7739-6FBF-C66B92758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6B35F3-3022-039E-8141-5E7C3213FBF8}"/>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6" name="Footer Placeholder 5">
            <a:extLst>
              <a:ext uri="{FF2B5EF4-FFF2-40B4-BE49-F238E27FC236}">
                <a16:creationId xmlns:a16="http://schemas.microsoft.com/office/drawing/2014/main" id="{09BA49B4-3B0E-386B-D479-ACA3CE3B3C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78588A-83B7-DAFC-73DE-85B3393FA939}"/>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1969106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3DFAF-4E74-0E1C-F642-02225D19BE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C6F2DF-55AD-CBE2-53A0-ACE54DEC9B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8AE41E-7BC6-BB52-5AAC-2BD5F2185849}"/>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5" name="Footer Placeholder 4">
            <a:extLst>
              <a:ext uri="{FF2B5EF4-FFF2-40B4-BE49-F238E27FC236}">
                <a16:creationId xmlns:a16="http://schemas.microsoft.com/office/drawing/2014/main" id="{01A11343-4DAE-E7FC-8925-155B925AB9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3A13E8-AB7D-04A3-23B3-A0637792FA43}"/>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3951457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E2B4CE-3709-B2F1-CC7D-CFFB538143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C32DF8-9658-CF5F-0A03-52487F4132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8C7D28-BCCA-0B90-AEE7-4E4C7BCE872A}"/>
              </a:ext>
            </a:extLst>
          </p:cNvPr>
          <p:cNvSpPr>
            <a:spLocks noGrp="1"/>
          </p:cNvSpPr>
          <p:nvPr>
            <p:ph type="dt" sz="half" idx="10"/>
          </p:nvPr>
        </p:nvSpPr>
        <p:spPr/>
        <p:txBody>
          <a:bodyPr/>
          <a:lstStyle/>
          <a:p>
            <a:fld id="{E03A429F-E8AA-40B0-92CB-564B38C03F03}" type="datetimeFigureOut">
              <a:rPr lang="en-IN" smtClean="0"/>
              <a:t>29-08-2026</a:t>
            </a:fld>
            <a:endParaRPr lang="en-IN"/>
          </a:p>
        </p:txBody>
      </p:sp>
      <p:sp>
        <p:nvSpPr>
          <p:cNvPr id="5" name="Footer Placeholder 4">
            <a:extLst>
              <a:ext uri="{FF2B5EF4-FFF2-40B4-BE49-F238E27FC236}">
                <a16:creationId xmlns:a16="http://schemas.microsoft.com/office/drawing/2014/main" id="{92AA181E-C461-7BBE-EBEA-B39D803D40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1B1F68-4D2F-295D-C6A6-D58429423D3F}"/>
              </a:ext>
            </a:extLst>
          </p:cNvPr>
          <p:cNvSpPr>
            <a:spLocks noGrp="1"/>
          </p:cNvSpPr>
          <p:nvPr>
            <p:ph type="sldNum" sz="quarter" idx="12"/>
          </p:nvPr>
        </p:nvSpPr>
        <p:spPr/>
        <p:txBody>
          <a:bodyPr/>
          <a:lstStyle/>
          <a:p>
            <a:fld id="{BA8E1E8C-1DD9-4B79-9147-79054E64B4B2}" type="slidenum">
              <a:rPr lang="en-IN" smtClean="0"/>
              <a:t>‹#›</a:t>
            </a:fld>
            <a:endParaRPr lang="en-IN"/>
          </a:p>
        </p:txBody>
      </p:sp>
    </p:spTree>
    <p:extLst>
      <p:ext uri="{BB962C8B-B14F-4D97-AF65-F5344CB8AC3E}">
        <p14:creationId xmlns:p14="http://schemas.microsoft.com/office/powerpoint/2010/main" val="1052704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9827FF-AA9D-BEE0-EBAD-C89D91974D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F1EDB-4C50-C2BE-AAB4-A14992F37E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A712BE-00CB-1308-BE18-DE2BA8FA71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3A429F-E8AA-40B0-92CB-564B38C03F03}" type="datetimeFigureOut">
              <a:rPr lang="en-IN" smtClean="0"/>
              <a:t>29-08-2026</a:t>
            </a:fld>
            <a:endParaRPr lang="en-IN"/>
          </a:p>
        </p:txBody>
      </p:sp>
      <p:sp>
        <p:nvSpPr>
          <p:cNvPr id="5" name="Footer Placeholder 4">
            <a:extLst>
              <a:ext uri="{FF2B5EF4-FFF2-40B4-BE49-F238E27FC236}">
                <a16:creationId xmlns:a16="http://schemas.microsoft.com/office/drawing/2014/main" id="{DDAB0A5C-A1C9-4DEF-492F-8EEBB7C459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4A8E63-DCB3-30D4-EBF3-87DAD9FA3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E1E8C-1DD9-4B79-9147-79054E64B4B2}" type="slidenum">
              <a:rPr lang="en-IN" smtClean="0"/>
              <a:t>‹#›</a:t>
            </a:fld>
            <a:endParaRPr lang="en-IN"/>
          </a:p>
        </p:txBody>
      </p:sp>
    </p:spTree>
    <p:extLst>
      <p:ext uri="{BB962C8B-B14F-4D97-AF65-F5344CB8AC3E}">
        <p14:creationId xmlns:p14="http://schemas.microsoft.com/office/powerpoint/2010/main" val="2993284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AutoShape 3"/>
          <p:cNvSpPr>
            <a:spLocks noChangeArrowheads="1"/>
          </p:cNvSpPr>
          <p:nvPr/>
        </p:nvSpPr>
        <p:spPr bwMode="auto">
          <a:xfrm>
            <a:off x="2514600" y="1801607"/>
            <a:ext cx="8382000" cy="803275"/>
          </a:xfrm>
          <a:prstGeom prst="roundRect">
            <a:avLst>
              <a:gd name="adj" fmla="val 16667"/>
            </a:avLst>
          </a:prstGeom>
          <a:solidFill>
            <a:srgbClr val="FFFFFF"/>
          </a:solidFill>
          <a:ln>
            <a:noFill/>
          </a:ln>
          <a:effectLst/>
          <a:extLs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sz="2400" b="1" dirty="0">
                <a:latin typeface="Times New Roman" panose="02020603050405020304" pitchFamily="18" charset="0"/>
                <a:cs typeface="Times New Roman" panose="02020603050405020304" pitchFamily="18" charset="0"/>
              </a:rPr>
              <a:t>DSA0202-COMPUTER VISION WITH OPENCV </a:t>
            </a:r>
          </a:p>
        </p:txBody>
      </p:sp>
      <p:sp>
        <p:nvSpPr>
          <p:cNvPr id="13318" name="Text Box 2"/>
          <p:cNvSpPr txBox="1">
            <a:spLocks noChangeArrowheads="1"/>
          </p:cNvSpPr>
          <p:nvPr/>
        </p:nvSpPr>
        <p:spPr bwMode="auto">
          <a:xfrm>
            <a:off x="685800" y="2653616"/>
            <a:ext cx="10287000" cy="1115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eaLnBrk="0" hangingPunc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1pPr>
            <a:lvl2pPr marL="365125" eaLnBrk="0" hangingPunc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2pPr>
            <a:lvl3pPr eaLnBrk="0" hangingPunc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3pPr>
            <a:lvl4pPr eaLnBrk="0" hangingPunc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4pPr>
            <a:lvl5pPr eaLnBrk="0" hangingPunc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5pPr>
            <a:lvl6pPr marL="2514600" indent="-228600" defTabSz="449580" eaLnBrk="0" fontAlgn="base" hangingPunct="0">
              <a:spcBef>
                <a:spcPct val="0"/>
              </a:spcBef>
              <a:spcAft>
                <a:spcPct val="0"/>
              </a:spcAft>
              <a:buClr>
                <a:srgbClr val="000000"/>
              </a:buClr>
              <a:buSzPct val="100000"/>
              <a:buFont typeface="Times New Roman" panose="02020603050405020304" pitchFamily="18" charse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6pPr>
            <a:lvl7pPr marL="2971800" indent="-228600" defTabSz="449580" eaLnBrk="0" fontAlgn="base" hangingPunct="0">
              <a:spcBef>
                <a:spcPct val="0"/>
              </a:spcBef>
              <a:spcAft>
                <a:spcPct val="0"/>
              </a:spcAft>
              <a:buClr>
                <a:srgbClr val="000000"/>
              </a:buClr>
              <a:buSzPct val="100000"/>
              <a:buFont typeface="Times New Roman" panose="02020603050405020304" pitchFamily="18" charse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7pPr>
            <a:lvl8pPr marL="3429000" indent="-228600" defTabSz="449580" eaLnBrk="0" fontAlgn="base" hangingPunct="0">
              <a:spcBef>
                <a:spcPct val="0"/>
              </a:spcBef>
              <a:spcAft>
                <a:spcPct val="0"/>
              </a:spcAft>
              <a:buClr>
                <a:srgbClr val="000000"/>
              </a:buClr>
              <a:buSzPct val="100000"/>
              <a:buFont typeface="Times New Roman" panose="02020603050405020304" pitchFamily="18" charse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8pPr>
            <a:lvl9pPr marL="3886200" indent="-228600" defTabSz="449580" eaLnBrk="0" fontAlgn="base" hangingPunct="0">
              <a:spcBef>
                <a:spcPct val="0"/>
              </a:spcBef>
              <a:spcAft>
                <a:spcPct val="0"/>
              </a:spcAft>
              <a:buClr>
                <a:srgbClr val="000000"/>
              </a:buClr>
              <a:buSzPct val="100000"/>
              <a:buFont typeface="Times New Roman" panose="02020603050405020304" pitchFamily="18" charset="0"/>
              <a:tabLst>
                <a:tab pos="633095" algn="l"/>
                <a:tab pos="1080770" algn="l"/>
                <a:tab pos="1530350" algn="l"/>
                <a:tab pos="1979295" algn="l"/>
                <a:tab pos="2428875" algn="l"/>
                <a:tab pos="2877820" algn="l"/>
                <a:tab pos="3327400" algn="l"/>
                <a:tab pos="3776345" algn="l"/>
                <a:tab pos="4225925" algn="l"/>
                <a:tab pos="4674870" algn="l"/>
                <a:tab pos="5124450" algn="l"/>
                <a:tab pos="5573395" algn="l"/>
                <a:tab pos="6022975" algn="l"/>
                <a:tab pos="6471920" algn="l"/>
                <a:tab pos="6921500" algn="l"/>
                <a:tab pos="7370445" algn="l"/>
                <a:tab pos="7820025" algn="l"/>
                <a:tab pos="8268970" algn="l"/>
                <a:tab pos="8718550" algn="l"/>
                <a:tab pos="9167495" algn="l"/>
                <a:tab pos="9617075" algn="l"/>
              </a:tabLst>
              <a:defRPr>
                <a:solidFill>
                  <a:schemeClr val="bg1"/>
                </a:solidFill>
                <a:latin typeface="Arial" panose="020B0604020202020204" pitchFamily="34" charset="0"/>
                <a:ea typeface="Droid Sans Fallback" charset="0"/>
                <a:cs typeface="Droid Sans Fallback" charset="0"/>
              </a:defRPr>
            </a:lvl9pPr>
          </a:lstStyle>
          <a:p>
            <a:pPr lvl="1" algn="ctr" eaLnBrk="1" hangingPunct="1">
              <a:spcBef>
                <a:spcPts val="550"/>
              </a:spcBef>
              <a:buClr>
                <a:srgbClr val="4F81BD"/>
              </a:buClr>
              <a:buSzPct val="70000"/>
            </a:pPr>
            <a:r>
              <a:rPr lang="en-US" sz="3600" b="1" dirty="0">
                <a:solidFill>
                  <a:srgbClr val="C00000"/>
                </a:solidFill>
                <a:latin typeface="Times New Roman" panose="02020603050405020304" pitchFamily="18" charset="0"/>
                <a:cs typeface="Times New Roman" panose="02020603050405020304" pitchFamily="18" charset="0"/>
              </a:rPr>
              <a:t> Edge Vision Guard: Real-Time Safety &amp; Defect Analytics System</a:t>
            </a:r>
          </a:p>
          <a:p>
            <a:pPr lvl="1" eaLnBrk="1" hangingPunct="1">
              <a:spcBef>
                <a:spcPts val="550"/>
              </a:spcBef>
              <a:buClr>
                <a:srgbClr val="4F81BD"/>
              </a:buClr>
              <a:buSzPct val="70000"/>
            </a:pPr>
            <a:r>
              <a:rPr lang="en-US" sz="2800" b="1" dirty="0">
                <a:solidFill>
                  <a:srgbClr val="002060"/>
                </a:solidFill>
                <a:latin typeface="Times New Roman" panose="02020603050405020304" pitchFamily="18" charset="0"/>
                <a:cs typeface="Times New Roman" panose="02020603050405020304" pitchFamily="18" charset="0"/>
              </a:rPr>
              <a:t>											</a:t>
            </a:r>
          </a:p>
          <a:p>
            <a:pPr lvl="1" eaLnBrk="1" hangingPunct="1">
              <a:spcBef>
                <a:spcPts val="550"/>
              </a:spcBef>
              <a:buClr>
                <a:srgbClr val="4F81BD"/>
              </a:buClr>
              <a:buSzPct val="70000"/>
            </a:pPr>
            <a:r>
              <a:rPr lang="en-US" sz="2800" b="1" dirty="0">
                <a:solidFill>
                  <a:srgbClr val="002060"/>
                </a:solidFill>
                <a:latin typeface="Times New Roman" panose="02020603050405020304" pitchFamily="18" charset="0"/>
                <a:cs typeface="Times New Roman" panose="02020603050405020304" pitchFamily="18" charset="0"/>
              </a:rPr>
              <a:t>											</a:t>
            </a:r>
          </a:p>
          <a:p>
            <a:pPr lvl="1" algn="ctr" eaLnBrk="1" hangingPunct="1">
              <a:spcBef>
                <a:spcPts val="550"/>
              </a:spcBef>
              <a:buClr>
                <a:srgbClr val="4F81BD"/>
              </a:buClr>
              <a:buSzPct val="70000"/>
            </a:pPr>
            <a:r>
              <a:rPr lang="en-US" sz="3600" b="1" dirty="0">
                <a:solidFill>
                  <a:srgbClr val="C00000"/>
                </a:solidFill>
                <a:latin typeface="Times New Roman" panose="02020603050405020304" pitchFamily="18" charset="0"/>
                <a:cs typeface="Times New Roman" panose="02020603050405020304" pitchFamily="18" charset="0"/>
              </a:rPr>
              <a:t>                                     </a:t>
            </a:r>
            <a:endParaRPr lang="en-US" sz="3600" b="1" dirty="0">
              <a:solidFill>
                <a:srgbClr val="002060"/>
              </a:solidFill>
              <a:latin typeface="Times New Roman" panose="02020603050405020304" pitchFamily="18" charset="0"/>
              <a:cs typeface="Times New Roman" panose="02020603050405020304" pitchFamily="18" charset="0"/>
            </a:endParaRPr>
          </a:p>
          <a:p>
            <a:pPr lvl="1" algn="ctr" eaLnBrk="1" hangingPunct="1">
              <a:spcBef>
                <a:spcPts val="550"/>
              </a:spcBef>
              <a:buClr>
                <a:srgbClr val="4F81BD"/>
              </a:buClr>
              <a:buSzPct val="70000"/>
            </a:pPr>
            <a:endParaRPr lang="en-US" sz="4400" b="1" dirty="0">
              <a:solidFill>
                <a:srgbClr val="C00000"/>
              </a:solidFill>
              <a:latin typeface="Times New Roman" panose="02020603050405020304" pitchFamily="18" charset="0"/>
              <a:cs typeface="Times New Roman" panose="02020603050405020304" pitchFamily="18" charset="0"/>
            </a:endParaRPr>
          </a:p>
          <a:p>
            <a:pPr lvl="1" algn="ctr" eaLnBrk="1" hangingPunct="1">
              <a:spcBef>
                <a:spcPts val="550"/>
              </a:spcBef>
              <a:buClr>
                <a:srgbClr val="4F81BD"/>
              </a:buClr>
              <a:buSzPct val="70000"/>
            </a:pPr>
            <a:endParaRPr lang="en-US" sz="4000" b="1" dirty="0">
              <a:solidFill>
                <a:srgbClr val="C00000"/>
              </a:solidFill>
              <a:latin typeface="Times New Roman" panose="02020603050405020304" pitchFamily="18" charset="0"/>
              <a:cs typeface="Times New Roman" panose="02020603050405020304" pitchFamily="18" charset="0"/>
            </a:endParaRPr>
          </a:p>
          <a:p>
            <a:pPr lvl="1" algn="ctr" eaLnBrk="1" hangingPunct="1">
              <a:spcBef>
                <a:spcPts val="550"/>
              </a:spcBef>
              <a:buClr>
                <a:srgbClr val="4F81BD"/>
              </a:buClr>
              <a:buSzPct val="70000"/>
            </a:pPr>
            <a:endParaRPr lang="en-US" sz="40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pPr>
              <a:defRPr/>
            </a:pPr>
            <a:fld id="{C6EF6C63-F5E9-4477-9611-220F3BE2B4BF}" type="slidenum">
              <a:rPr lang="zh-CN" altLang="en-US" sz="1400" b="1">
                <a:solidFill>
                  <a:schemeClr val="tx1"/>
                </a:solidFill>
              </a:rPr>
              <a:t>1</a:t>
            </a:fld>
            <a:endParaRPr lang="en-US" altLang="zh-CN" sz="1400" b="1" dirty="0">
              <a:solidFill>
                <a:schemeClr val="tx1"/>
              </a:solidFill>
            </a:endParaRPr>
          </a:p>
        </p:txBody>
      </p:sp>
      <p:pic>
        <p:nvPicPr>
          <p:cNvPr id="1026"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503361"/>
            <a:ext cx="8534400" cy="11096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410200" y="4904689"/>
            <a:ext cx="6553200" cy="1169551"/>
          </a:xfrm>
          <a:prstGeom prst="rect">
            <a:avLst/>
          </a:prstGeom>
          <a:noFill/>
        </p:spPr>
        <p:txBody>
          <a:bodyPr wrap="square" rtlCol="0">
            <a:spAutoFit/>
          </a:bodyPr>
          <a:lstStyle/>
          <a:p>
            <a:pPr lvl="1">
              <a:spcBef>
                <a:spcPts val="550"/>
              </a:spcBef>
              <a:buClr>
                <a:srgbClr val="4F81BD"/>
              </a:buClr>
              <a:buSzPct val="70000"/>
            </a:pPr>
            <a:r>
              <a:rPr lang="en-US" sz="2000" b="1" dirty="0">
                <a:solidFill>
                  <a:srgbClr val="002060"/>
                </a:solidFill>
                <a:latin typeface="Times New Roman" panose="02020603050405020304" pitchFamily="18" charset="0"/>
                <a:cs typeface="Times New Roman" panose="02020603050405020304" pitchFamily="18" charset="0"/>
              </a:rPr>
              <a:t>Rakina S (192324289)</a:t>
            </a:r>
          </a:p>
          <a:p>
            <a:pPr lvl="1">
              <a:spcBef>
                <a:spcPts val="550"/>
              </a:spcBef>
              <a:buClr>
                <a:srgbClr val="4F81BD"/>
              </a:buClr>
              <a:buSzPct val="70000"/>
            </a:pPr>
            <a:r>
              <a:rPr lang="en-US" sz="2000" b="1" dirty="0">
                <a:solidFill>
                  <a:srgbClr val="002060"/>
                </a:solidFill>
                <a:latin typeface="Times New Roman" panose="02020603050405020304" pitchFamily="18" charset="0"/>
                <a:cs typeface="Times New Roman" panose="02020603050405020304" pitchFamily="18" charset="0"/>
              </a:rPr>
              <a:t>Harisha S (192324300)        </a:t>
            </a:r>
          </a:p>
          <a:p>
            <a:pPr lvl="1">
              <a:spcBef>
                <a:spcPts val="550"/>
              </a:spcBef>
              <a:buClr>
                <a:srgbClr val="4F81BD"/>
              </a:buClr>
              <a:buSzPct val="70000"/>
            </a:pPr>
            <a:r>
              <a:rPr lang="en-US" sz="2000" b="1" dirty="0" err="1">
                <a:solidFill>
                  <a:srgbClr val="002060"/>
                </a:solidFill>
                <a:latin typeface="Times New Roman" panose="02020603050405020304" pitchFamily="18" charset="0"/>
                <a:cs typeface="Times New Roman" panose="02020603050405020304" pitchFamily="18" charset="0"/>
              </a:rPr>
              <a:t>Anipakala</a:t>
            </a:r>
            <a:r>
              <a:rPr lang="en-US" sz="2000" b="1" dirty="0">
                <a:solidFill>
                  <a:srgbClr val="002060"/>
                </a:solidFill>
                <a:latin typeface="Times New Roman" panose="02020603050405020304" pitchFamily="18" charset="0"/>
                <a:cs typeface="Times New Roman" panose="02020603050405020304" pitchFamily="18" charset="0"/>
              </a:rPr>
              <a:t> Mahesh (192424139)</a:t>
            </a:r>
          </a:p>
        </p:txBody>
      </p:sp>
      <p:sp>
        <p:nvSpPr>
          <p:cNvPr id="3" name="TextBox 2"/>
          <p:cNvSpPr txBox="1"/>
          <p:nvPr/>
        </p:nvSpPr>
        <p:spPr>
          <a:xfrm>
            <a:off x="237226" y="5049279"/>
            <a:ext cx="3877574" cy="926536"/>
          </a:xfrm>
          <a:prstGeom prst="rect">
            <a:avLst/>
          </a:prstGeom>
          <a:noFill/>
        </p:spPr>
        <p:txBody>
          <a:bodyPr wrap="square" rtlCol="0">
            <a:spAutoFit/>
          </a:bodyPr>
          <a:lstStyle/>
          <a:p>
            <a:pPr marL="0" lvl="1">
              <a:lnSpc>
                <a:spcPct val="150000"/>
              </a:lnSpc>
            </a:pPr>
            <a:r>
              <a:rPr lang="en-US" sz="2000" b="1" dirty="0">
                <a:solidFill>
                  <a:srgbClr val="002060"/>
                </a:solidFill>
                <a:latin typeface="Times New Roman" panose="02020603050405020304" pitchFamily="18" charset="0"/>
                <a:cs typeface="Times New Roman" panose="02020603050405020304" pitchFamily="18" charset="0"/>
              </a:rPr>
              <a:t>Dr M </a:t>
            </a:r>
            <a:r>
              <a:rPr lang="en-US" sz="2000" b="1" dirty="0" err="1">
                <a:solidFill>
                  <a:srgbClr val="002060"/>
                </a:solidFill>
                <a:latin typeface="Times New Roman" panose="02020603050405020304" pitchFamily="18" charset="0"/>
                <a:cs typeface="Times New Roman" panose="02020603050405020304" pitchFamily="18" charset="0"/>
              </a:rPr>
              <a:t>Mayuranathan</a:t>
            </a:r>
            <a:r>
              <a:rPr lang="en-US" sz="2000" b="1" dirty="0">
                <a:solidFill>
                  <a:srgbClr val="002060"/>
                </a:solidFill>
                <a:latin typeface="Times New Roman" panose="02020603050405020304" pitchFamily="18" charset="0"/>
                <a:cs typeface="Times New Roman" panose="02020603050405020304" pitchFamily="18" charset="0"/>
              </a:rPr>
              <a:t> (Professor)</a:t>
            </a:r>
          </a:p>
          <a:p>
            <a:pPr>
              <a:lnSpc>
                <a:spcPct val="150000"/>
              </a:lnSpc>
            </a:pPr>
            <a:endParaRPr lang="en-IN" dirty="0"/>
          </a:p>
        </p:txBody>
      </p:sp>
      <p:sp>
        <p:nvSpPr>
          <p:cNvPr id="4" name="TextBox 3">
            <a:extLst>
              <a:ext uri="{FF2B5EF4-FFF2-40B4-BE49-F238E27FC236}">
                <a16:creationId xmlns:a16="http://schemas.microsoft.com/office/drawing/2014/main" id="{C5F0FF67-4B81-CC29-2366-A9991D8693F7}"/>
              </a:ext>
            </a:extLst>
          </p:cNvPr>
          <p:cNvSpPr txBox="1"/>
          <p:nvPr/>
        </p:nvSpPr>
        <p:spPr>
          <a:xfrm>
            <a:off x="237226" y="4641030"/>
            <a:ext cx="2514600" cy="369332"/>
          </a:xfrm>
          <a:prstGeom prst="rect">
            <a:avLst/>
          </a:prstGeom>
          <a:noFill/>
        </p:spPr>
        <p:txBody>
          <a:bodyPr wrap="square" rtlCol="0">
            <a:spAutoFit/>
          </a:bodyPr>
          <a:lstStyle/>
          <a:p>
            <a:r>
              <a:rPr lang="en-IN" dirty="0"/>
              <a:t>Guided by:</a:t>
            </a:r>
          </a:p>
        </p:txBody>
      </p:sp>
      <p:sp>
        <p:nvSpPr>
          <p:cNvPr id="5" name="TextBox 4">
            <a:extLst>
              <a:ext uri="{FF2B5EF4-FFF2-40B4-BE49-F238E27FC236}">
                <a16:creationId xmlns:a16="http://schemas.microsoft.com/office/drawing/2014/main" id="{097E0F85-5944-DED8-7795-52C871AF9E2F}"/>
              </a:ext>
            </a:extLst>
          </p:cNvPr>
          <p:cNvSpPr txBox="1"/>
          <p:nvPr/>
        </p:nvSpPr>
        <p:spPr>
          <a:xfrm>
            <a:off x="5867400" y="4440549"/>
            <a:ext cx="914400" cy="369332"/>
          </a:xfrm>
          <a:prstGeom prst="rect">
            <a:avLst/>
          </a:prstGeom>
          <a:noFill/>
        </p:spPr>
        <p:txBody>
          <a:bodyPr wrap="square" rtlCol="0">
            <a:spAutoFit/>
          </a:bodyPr>
          <a:lstStyle/>
          <a:p>
            <a:r>
              <a:rPr lang="en-IN" dirty="0"/>
              <a:t>By:</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025" y="1134594"/>
            <a:ext cx="7499350" cy="792162"/>
          </a:xfrm>
        </p:spPr>
        <p:txBody>
          <a:bodyPr>
            <a:normAutofit/>
          </a:bodyPr>
          <a:lstStyle/>
          <a:p>
            <a:pPr algn="ctr">
              <a:defRPr/>
            </a:pPr>
            <a:r>
              <a:rPr lang="en-US" sz="3200" b="1" dirty="0">
                <a:solidFill>
                  <a:srgbClr val="C00000"/>
                </a:solidFill>
                <a:latin typeface="Times New Roman" panose="02020603050405020304" pitchFamily="18" charset="0"/>
                <a:cs typeface="Times New Roman" panose="02020603050405020304" pitchFamily="18" charset="0"/>
              </a:rPr>
              <a:t>ABSTRACT</a:t>
            </a:r>
          </a:p>
        </p:txBody>
      </p:sp>
      <p:pic>
        <p:nvPicPr>
          <p:cNvPr id="7"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371600" y="1964259"/>
            <a:ext cx="9144000" cy="1883657"/>
          </a:xfrm>
          <a:prstGeom prst="rect">
            <a:avLst/>
          </a:prstGeom>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Edge Vision Guard system is designed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real-time camera/video data for detecting safety violations and product defects. The system integrates image preprocessing, computer vision, defect detection, safety monitoring, analytics, and visual dashboards to provide meaningful real-time insights.</a:t>
            </a:r>
            <a:endParaRPr lang="en-US"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1371600" y="4224124"/>
            <a:ext cx="9448800" cy="2806987"/>
          </a:xfrm>
          <a:prstGeom prst="rect">
            <a:avLst/>
          </a:prstGeom>
        </p:spPr>
        <p:txBody>
          <a:bodyPr wrap="square">
            <a:spAutoFit/>
          </a:bodyPr>
          <a:lstStyle/>
          <a:p>
            <a:pPr algn="just">
              <a:lnSpc>
                <a:spcPct val="150000"/>
              </a:lnSpc>
            </a:pPr>
            <a:r>
              <a:rPr lang="en-US" sz="2000" b="1" u="sng" dirty="0">
                <a:latin typeface="Times New Roman" panose="02020603050405020304" pitchFamily="18" charset="0"/>
                <a:cs typeface="Times New Roman" panose="02020603050405020304" pitchFamily="18" charset="0"/>
              </a:rPr>
              <a:t>Purpose of the Project:</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preprocess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real-time vision data.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detect safety violations and defects automatically.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classify detected defects and safety conditions.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visualize detection results using charts and dashboards.</a:t>
            </a:r>
          </a:p>
          <a:p>
            <a:pPr lvl="0" algn="just">
              <a:lnSpc>
                <a:spcPct val="150000"/>
              </a:lnSpc>
            </a:pPr>
            <a:endParaRPr lang="en-US" sz="2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4876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025" y="1019427"/>
            <a:ext cx="7499350" cy="792162"/>
          </a:xfrm>
        </p:spPr>
        <p:txBody>
          <a:bodyPr>
            <a:normAutofit/>
          </a:bodyPr>
          <a:lstStyle/>
          <a:p>
            <a:pPr algn="ctr">
              <a:defRPr/>
            </a:pPr>
            <a:r>
              <a:rPr lang="en-US" sz="3200" b="1" dirty="0">
                <a:solidFill>
                  <a:srgbClr val="C00000"/>
                </a:solidFill>
                <a:latin typeface="Times New Roman" panose="02020603050405020304" pitchFamily="18" charset="0"/>
                <a:cs typeface="Times New Roman" panose="02020603050405020304" pitchFamily="18" charset="0"/>
              </a:rPr>
              <a:t>INTRODUCTION</a:t>
            </a:r>
          </a:p>
        </p:txBody>
      </p:sp>
      <p:sp>
        <p:nvSpPr>
          <p:cNvPr id="4" name="Slide Number Placeholder 3"/>
          <p:cNvSpPr>
            <a:spLocks noGrp="1"/>
          </p:cNvSpPr>
          <p:nvPr>
            <p:ph type="sldNum" sz="quarter" idx="12"/>
          </p:nvPr>
        </p:nvSpPr>
        <p:spPr/>
        <p:txBody>
          <a:bodyPr/>
          <a:lstStyle/>
          <a:p>
            <a:pPr>
              <a:defRPr/>
            </a:pPr>
            <a:fld id="{7241A7F6-1F69-443A-82D9-777AEA64EBC9}" type="slidenum">
              <a:rPr lang="zh-CN" altLang="en-US"/>
              <a:t>3</a:t>
            </a:fld>
            <a:endParaRPr lang="en-US" altLang="zh-CN"/>
          </a:p>
        </p:txBody>
      </p:sp>
      <p:pic>
        <p:nvPicPr>
          <p:cNvPr id="7"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09571"/>
            <a:ext cx="7239000" cy="79216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71797" y="1981200"/>
            <a:ext cx="10429603" cy="1421992"/>
          </a:xfrm>
          <a:prstGeom prst="rect">
            <a:avLst/>
          </a:prstGeom>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Modern industrial and workplace environments generate large amounts of visual data through surveillance cameras and inspection systems. Manually monitoring these video streams can make it difficult to identify safety violations and product defects quickly.</a:t>
            </a:r>
            <a:endParaRPr lang="en-US"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784737" y="3582408"/>
            <a:ext cx="10820400" cy="3228063"/>
          </a:xfrm>
          <a:prstGeom prst="rect">
            <a:avLst/>
          </a:prstGeom>
        </p:spPr>
        <p:txBody>
          <a:bodyPr wrap="square">
            <a:spAutoFit/>
          </a:bodyPr>
          <a:lstStyle/>
          <a:p>
            <a:pPr algn="just">
              <a:lnSpc>
                <a:spcPct val="150000"/>
              </a:lnSpc>
            </a:pPr>
            <a:r>
              <a:rPr lang="en-US" sz="2000" b="1" u="sng" dirty="0">
                <a:latin typeface="Times New Roman" panose="02020603050405020304" pitchFamily="18" charset="0"/>
                <a:cs typeface="Times New Roman" panose="02020603050405020304" pitchFamily="18" charset="0"/>
              </a:rPr>
              <a:t>Importance of the Project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Helps identify safety violations in real time.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Detects defective products automatically.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Reduces dependency on continuous manual inspection.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Provides visual analytics of detected defects and safety events.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Supports faster and data-driven decision-making.</a:t>
            </a:r>
          </a:p>
          <a:p>
            <a:pPr lvl="0"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025" y="1219201"/>
            <a:ext cx="7499350" cy="792162"/>
          </a:xfrm>
        </p:spPr>
        <p:txBody>
          <a:bodyPr>
            <a:normAutofit/>
          </a:bodyPr>
          <a:lstStyle/>
          <a:p>
            <a:pPr algn="ctr">
              <a:defRPr/>
            </a:pPr>
            <a:r>
              <a:rPr lang="en-US" sz="3200" b="1" dirty="0">
                <a:solidFill>
                  <a:srgbClr val="C00000"/>
                </a:solidFill>
                <a:latin typeface="Times New Roman" panose="02020603050405020304" pitchFamily="18" charset="0"/>
                <a:cs typeface="Times New Roman" panose="02020603050405020304" pitchFamily="18" charset="0"/>
              </a:rPr>
              <a:t>PROBLEM STATEMENT</a:t>
            </a:r>
          </a:p>
        </p:txBody>
      </p:sp>
      <p:sp>
        <p:nvSpPr>
          <p:cNvPr id="4" name="Slide Number Placeholder 3"/>
          <p:cNvSpPr>
            <a:spLocks noGrp="1"/>
          </p:cNvSpPr>
          <p:nvPr>
            <p:ph type="sldNum" sz="quarter" idx="12"/>
          </p:nvPr>
        </p:nvSpPr>
        <p:spPr/>
        <p:txBody>
          <a:bodyPr/>
          <a:lstStyle/>
          <a:p>
            <a:pPr>
              <a:defRPr/>
            </a:pPr>
            <a:fld id="{7241A7F6-1F69-443A-82D9-777AEA64EBC9}" type="slidenum">
              <a:rPr lang="zh-CN" altLang="en-US"/>
              <a:t>4</a:t>
            </a:fld>
            <a:endParaRPr lang="en-US" altLang="zh-CN"/>
          </a:p>
        </p:txBody>
      </p:sp>
      <p:pic>
        <p:nvPicPr>
          <p:cNvPr id="7"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428206" y="1925854"/>
            <a:ext cx="9753600" cy="46130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Continuous monitoring of industrial environments and products through cameras is challenging because large amounts of visual data need to be processed in real time. Manual inspection may result in delayed detection of safety violations and product defects.</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lack of a unified system for real-time safety monitoring, defect detection, and visual analytics makes it difficult to identify problems quickly.</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Therefore, there is a need for an intelligent vision-based system that can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camera input, detect safety and quality issues, and present the results through dashboards and visualizations.</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2850" y="1447332"/>
            <a:ext cx="7499350" cy="792162"/>
          </a:xfrm>
        </p:spPr>
        <p:txBody>
          <a:bodyPr>
            <a:normAutofit fontScale="90000"/>
          </a:bodyPr>
          <a:lstStyle/>
          <a:p>
            <a:pPr algn="ctr">
              <a:defRPr/>
            </a:pPr>
            <a:r>
              <a:rPr lang="en-US" sz="3600" b="1" dirty="0">
                <a:solidFill>
                  <a:srgbClr val="C00000"/>
                </a:solidFill>
                <a:latin typeface="Times New Roman" panose="02020603050405020304" pitchFamily="18" charset="0"/>
                <a:cs typeface="Times New Roman" panose="02020603050405020304" pitchFamily="18" charset="0"/>
              </a:rPr>
              <a:t>EXSISTING VS PROPOSED SYSTEM</a:t>
            </a:r>
          </a:p>
        </p:txBody>
      </p:sp>
      <p:sp>
        <p:nvSpPr>
          <p:cNvPr id="4" name="Slide Number Placeholder 3"/>
          <p:cNvSpPr>
            <a:spLocks noGrp="1"/>
          </p:cNvSpPr>
          <p:nvPr>
            <p:ph type="sldNum" sz="quarter" idx="12"/>
          </p:nvPr>
        </p:nvSpPr>
        <p:spPr/>
        <p:txBody>
          <a:bodyPr/>
          <a:lstStyle/>
          <a:p>
            <a:pPr>
              <a:defRPr/>
            </a:pPr>
            <a:fld id="{7241A7F6-1F69-443A-82D9-777AEA64EBC9}" type="slidenum">
              <a:rPr lang="zh-CN" altLang="en-US"/>
              <a:t>5</a:t>
            </a:fld>
            <a:endParaRPr lang="en-US" altLang="zh-CN"/>
          </a:p>
        </p:txBody>
      </p:sp>
      <p:pic>
        <p:nvPicPr>
          <p:cNvPr id="7"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069607499"/>
              </p:ext>
            </p:extLst>
          </p:nvPr>
        </p:nvGraphicFramePr>
        <p:xfrm>
          <a:off x="1339850" y="2091678"/>
          <a:ext cx="9623118" cy="4309122"/>
        </p:xfrm>
        <a:graphic>
          <a:graphicData uri="http://schemas.openxmlformats.org/drawingml/2006/table">
            <a:tbl>
              <a:tblPr firstRow="1" bandRow="1">
                <a:tableStyleId>{1E171933-4619-4E11-9A3F-F7608DF75F80}</a:tableStyleId>
              </a:tblPr>
              <a:tblGrid>
                <a:gridCol w="4572000">
                  <a:extLst>
                    <a:ext uri="{9D8B030D-6E8A-4147-A177-3AD203B41FA5}">
                      <a16:colId xmlns:a16="http://schemas.microsoft.com/office/drawing/2014/main" val="1020977707"/>
                    </a:ext>
                  </a:extLst>
                </a:gridCol>
                <a:gridCol w="5051118">
                  <a:extLst>
                    <a:ext uri="{9D8B030D-6E8A-4147-A177-3AD203B41FA5}">
                      <a16:colId xmlns:a16="http://schemas.microsoft.com/office/drawing/2014/main" val="292709969"/>
                    </a:ext>
                  </a:extLst>
                </a:gridCol>
              </a:tblGrid>
              <a:tr h="468322">
                <a:tc>
                  <a:txBody>
                    <a:bodyPr/>
                    <a:lstStyle/>
                    <a:p>
                      <a:pPr>
                        <a:buNone/>
                      </a:pPr>
                      <a:r>
                        <a:rPr lang="en-IN" dirty="0"/>
                        <a:t>EXISTING SYSTEM</a:t>
                      </a:r>
                    </a:p>
                  </a:txBody>
                  <a:tcPr anchor="ctr"/>
                </a:tc>
                <a:tc>
                  <a:txBody>
                    <a:bodyPr/>
                    <a:lstStyle/>
                    <a:p>
                      <a:pPr>
                        <a:buNone/>
                      </a:pPr>
                      <a:r>
                        <a:rPr lang="en-IN" dirty="0"/>
                        <a:t>PROPOSED SYSTEM</a:t>
                      </a:r>
                    </a:p>
                  </a:txBody>
                  <a:tcPr anchor="ctr"/>
                </a:tc>
                <a:extLst>
                  <a:ext uri="{0D108BD9-81ED-4DB2-BD59-A6C34878D82A}">
                    <a16:rowId xmlns:a16="http://schemas.microsoft.com/office/drawing/2014/main" val="2603611405"/>
                  </a:ext>
                </a:extLst>
              </a:tr>
              <a:tr h="468322">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Safety and defect inspection is mainly manual.</a:t>
                      </a:r>
                    </a:p>
                  </a:txBody>
                  <a:tcPr anchor="ctr"/>
                </a:tc>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Provides automated vision-based detection.</a:t>
                      </a:r>
                    </a:p>
                  </a:txBody>
                  <a:tcPr anchor="ctr"/>
                </a:tc>
                <a:extLst>
                  <a:ext uri="{0D108BD9-81ED-4DB2-BD59-A6C34878D82A}">
                    <a16:rowId xmlns:a16="http://schemas.microsoft.com/office/drawing/2014/main" val="1084994534"/>
                  </a:ext>
                </a:extLst>
              </a:tr>
              <a:tr h="468322">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Continuous monitoring requires human attention.</a:t>
                      </a:r>
                    </a:p>
                  </a:txBody>
                  <a:tcPr anchor="ctr"/>
                </a:tc>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Provides real-time automated monitoring.</a:t>
                      </a:r>
                    </a:p>
                  </a:txBody>
                  <a:tcPr anchor="ctr"/>
                </a:tc>
                <a:extLst>
                  <a:ext uri="{0D108BD9-81ED-4DB2-BD59-A6C34878D82A}">
                    <a16:rowId xmlns:a16="http://schemas.microsoft.com/office/drawing/2014/main" val="1705440630"/>
                  </a:ext>
                </a:extLst>
              </a:tr>
              <a:tr h="468322">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Defects are difficult to identify quickly.</a:t>
                      </a:r>
                    </a:p>
                  </a:txBody>
                  <a:tcPr anchor="ctr"/>
                </a:tc>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Detects and classifies defects automatically.</a:t>
                      </a:r>
                    </a:p>
                  </a:txBody>
                  <a:tcPr anchor="ctr"/>
                </a:tc>
                <a:extLst>
                  <a:ext uri="{0D108BD9-81ED-4DB2-BD59-A6C34878D82A}">
                    <a16:rowId xmlns:a16="http://schemas.microsoft.com/office/drawing/2014/main" val="635740831"/>
                  </a:ext>
                </a:extLst>
              </a:tr>
              <a:tr h="468322">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Safety events may be recorded separately.</a:t>
                      </a:r>
                    </a:p>
                  </a:txBody>
                  <a:tcPr anchor="ctr"/>
                </a:tc>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Combines safety and defect analytics in one system.</a:t>
                      </a:r>
                    </a:p>
                  </a:txBody>
                  <a:tcPr anchor="ctr"/>
                </a:tc>
                <a:extLst>
                  <a:ext uri="{0D108BD9-81ED-4DB2-BD59-A6C34878D82A}">
                    <a16:rowId xmlns:a16="http://schemas.microsoft.com/office/drawing/2014/main" val="2066029071"/>
                  </a:ext>
                </a:extLst>
              </a:tr>
              <a:tr h="468322">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Limited visual analysis of inspection data.</a:t>
                      </a:r>
                    </a:p>
                  </a:txBody>
                  <a:tcPr anchor="ctr"/>
                </a:tc>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Provides charts, graphs, and dashboard KPIs.</a:t>
                      </a:r>
                    </a:p>
                  </a:txBody>
                  <a:tcPr anchor="ctr"/>
                </a:tc>
                <a:extLst>
                  <a:ext uri="{0D108BD9-81ED-4DB2-BD59-A6C34878D82A}">
                    <a16:rowId xmlns:a16="http://schemas.microsoft.com/office/drawing/2014/main" val="3827623719"/>
                  </a:ext>
                </a:extLst>
              </a:tr>
            </a:tbl>
          </a:graphicData>
        </a:graphic>
      </p:graphicFrame>
    </p:spTree>
    <p:extLst>
      <p:ext uri="{BB962C8B-B14F-4D97-AF65-F5344CB8AC3E}">
        <p14:creationId xmlns:p14="http://schemas.microsoft.com/office/powerpoint/2010/main" val="1729062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5400" y="1171398"/>
            <a:ext cx="7061200" cy="181291"/>
          </a:xfrm>
        </p:spPr>
        <p:txBody>
          <a:bodyPr>
            <a:normAutofit fontScale="90000"/>
          </a:bodyPr>
          <a:lstStyle/>
          <a:p>
            <a:pPr algn="ctr">
              <a:defRPr/>
            </a:pPr>
            <a:r>
              <a:rPr lang="en-US" sz="3600" b="1" dirty="0">
                <a:solidFill>
                  <a:srgbClr val="C00000"/>
                </a:solidFill>
                <a:latin typeface="Times New Roman" panose="02020603050405020304" pitchFamily="18" charset="0"/>
                <a:cs typeface="Times New Roman" panose="02020603050405020304" pitchFamily="18" charset="0"/>
              </a:rPr>
              <a:t>LITERATURE REVIEW</a:t>
            </a:r>
          </a:p>
        </p:txBody>
      </p:sp>
      <p:sp>
        <p:nvSpPr>
          <p:cNvPr id="4" name="Slide Number Placeholder 3"/>
          <p:cNvSpPr>
            <a:spLocks noGrp="1"/>
          </p:cNvSpPr>
          <p:nvPr>
            <p:ph type="sldNum" sz="quarter" idx="12"/>
          </p:nvPr>
        </p:nvSpPr>
        <p:spPr/>
        <p:txBody>
          <a:bodyPr/>
          <a:lstStyle/>
          <a:p>
            <a:pPr>
              <a:defRPr/>
            </a:pPr>
            <a:fld id="{7241A7F6-1F69-443A-82D9-777AEA64EBC9}" type="slidenum">
              <a:rPr lang="zh-CN" altLang="en-US"/>
              <a:t>6</a:t>
            </a:fld>
            <a:endParaRPr lang="en-US" altLang="zh-CN"/>
          </a:p>
        </p:txBody>
      </p:sp>
      <p:pic>
        <p:nvPicPr>
          <p:cNvPr id="7"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28600"/>
            <a:ext cx="7061200" cy="7241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8B9C7D9-BD24-8681-BBE5-63FBBDB2F02D}"/>
              </a:ext>
            </a:extLst>
          </p:cNvPr>
          <p:cNvPicPr>
            <a:picLocks noChangeAspect="1"/>
          </p:cNvPicPr>
          <p:nvPr/>
        </p:nvPicPr>
        <p:blipFill>
          <a:blip r:embed="rId4"/>
          <a:stretch>
            <a:fillRect/>
          </a:stretch>
        </p:blipFill>
        <p:spPr>
          <a:xfrm>
            <a:off x="955384" y="1654216"/>
            <a:ext cx="10745003" cy="47021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241A7F6-1F69-443A-82D9-777AEA64EBC9}" type="slidenum">
              <a:rPr lang="zh-CN" altLang="en-US"/>
              <a:t>7</a:t>
            </a:fld>
            <a:endParaRPr lang="en-US" altLang="zh-CN"/>
          </a:p>
        </p:txBody>
      </p:sp>
      <p:pic>
        <p:nvPicPr>
          <p:cNvPr id="7"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A18EF6E-0CA2-0DA8-C965-38FC4A855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500" y="1443210"/>
            <a:ext cx="10287000" cy="5166910"/>
          </a:xfrm>
          <a:prstGeom prst="rect">
            <a:avLst/>
          </a:prstGeom>
        </p:spPr>
      </p:pic>
    </p:spTree>
    <p:extLst>
      <p:ext uri="{BB962C8B-B14F-4D97-AF65-F5344CB8AC3E}">
        <p14:creationId xmlns:p14="http://schemas.microsoft.com/office/powerpoint/2010/main" val="2598481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506806"/>
            <a:ext cx="7499350" cy="792162"/>
          </a:xfrm>
        </p:spPr>
        <p:txBody>
          <a:bodyPr>
            <a:normAutofit/>
          </a:bodyPr>
          <a:lstStyle/>
          <a:p>
            <a:pPr algn="ctr">
              <a:defRPr/>
            </a:pPr>
            <a:r>
              <a:rPr lang="en-US" sz="3200" b="1" dirty="0">
                <a:solidFill>
                  <a:srgbClr val="C00000"/>
                </a:solidFill>
                <a:latin typeface="Times New Roman" panose="02020603050405020304" pitchFamily="18" charset="0"/>
                <a:cs typeface="Times New Roman" panose="02020603050405020304" pitchFamily="18" charset="0"/>
              </a:rPr>
              <a:t>MODULES</a:t>
            </a:r>
          </a:p>
        </p:txBody>
      </p:sp>
      <p:sp>
        <p:nvSpPr>
          <p:cNvPr id="4" name="Slide Number Placeholder 3"/>
          <p:cNvSpPr>
            <a:spLocks noGrp="1"/>
          </p:cNvSpPr>
          <p:nvPr>
            <p:ph type="sldNum" sz="quarter" idx="12"/>
          </p:nvPr>
        </p:nvSpPr>
        <p:spPr/>
        <p:txBody>
          <a:bodyPr/>
          <a:lstStyle/>
          <a:p>
            <a:pPr>
              <a:defRPr/>
            </a:pPr>
            <a:fld id="{7241A7F6-1F69-443A-82D9-777AEA64EBC9}" type="slidenum">
              <a:rPr lang="zh-CN" altLang="en-US"/>
              <a:t>8</a:t>
            </a:fld>
            <a:endParaRPr lang="en-US" altLang="zh-CN"/>
          </a:p>
        </p:txBody>
      </p:sp>
      <p:pic>
        <p:nvPicPr>
          <p:cNvPr id="7"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562100" y="2469596"/>
            <a:ext cx="8572500" cy="3268652"/>
          </a:xfrm>
          <a:prstGeom prst="rect">
            <a:avLst/>
          </a:prstGeom>
        </p:spPr>
        <p:txBody>
          <a:bodyPr wrap="square">
            <a:spAutoFit/>
          </a:bodyPr>
          <a:lstStyle/>
          <a:p>
            <a:pPr marL="342900" indent="-342900">
              <a:lnSpc>
                <a:spcPct val="150000"/>
              </a:lnSpc>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Image/Video Preprocessing &amp; Object Detection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Preprocesses visual data and detects objects.</a:t>
            </a:r>
          </a:p>
          <a:p>
            <a:pPr marL="342900" indent="-342900">
              <a:lnSpc>
                <a:spcPct val="150000"/>
              </a:lnSpc>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Safety &amp; Defect Detection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Detects safety violations and product defects.</a:t>
            </a:r>
          </a:p>
          <a:p>
            <a:pPr marL="342900" indent="-342900">
              <a:lnSpc>
                <a:spcPct val="150000"/>
              </a:lnSpc>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Real-Time Analytics &amp; Visualization</a:t>
            </a:r>
            <a:br>
              <a:rPr lang="en-IN" sz="2000" dirty="0">
                <a:latin typeface="Times New Roman" panose="02020603050405020304" pitchFamily="18" charset="0"/>
                <a:cs typeface="Times New Roman" panose="02020603050405020304" pitchFamily="18" charset="0"/>
              </a:rPr>
            </a:b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results and displays them using dashboards and charts</a:t>
            </a:r>
            <a:r>
              <a:rPr lang="en-IN" sz="2000" dirty="0"/>
              <a:t>.</a:t>
            </a:r>
          </a:p>
          <a:p>
            <a:pPr marL="342900" indent="-342900">
              <a:lnSpc>
                <a:spcPct val="150000"/>
              </a:lnSpc>
              <a:buFont typeface="Wingdings" panose="05000000000000000000" pitchFamily="2" charset="2"/>
              <a:buChar char="ü"/>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8235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D81F09-F49C-2483-EDC2-BDF61A9F84E2}"/>
              </a:ext>
            </a:extLst>
          </p:cNvPr>
          <p:cNvSpPr txBox="1"/>
          <p:nvPr/>
        </p:nvSpPr>
        <p:spPr>
          <a:xfrm>
            <a:off x="1273277" y="1540047"/>
            <a:ext cx="10176387" cy="1077218"/>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Module 1:</a:t>
            </a:r>
            <a:r>
              <a:rPr lang="en-IN" sz="3200" b="1" dirty="0">
                <a:latin typeface="Times New Roman" panose="02020603050405020304" pitchFamily="18" charset="0"/>
                <a:cs typeface="Times New Roman" panose="02020603050405020304" pitchFamily="18" charset="0"/>
              </a:rPr>
              <a:t> IMAGE/VIDEO DATA PREPROCESSING &amp; OBJECT DETECTION</a:t>
            </a:r>
            <a:endParaRPr lang="en-US" sz="3200" b="1" dirty="0">
              <a:latin typeface="Times New Roman" panose="02020603050405020304" pitchFamily="18" charset="0"/>
              <a:cs typeface="Times New Roman" panose="02020603050405020304" pitchFamily="18" charset="0"/>
            </a:endParaRPr>
          </a:p>
        </p:txBody>
      </p:sp>
      <p:pic>
        <p:nvPicPr>
          <p:cNvPr id="5" name="Picture 2" descr="SSE-Computer Science and Engineering">
            <a:extLst>
              <a:ext uri="{FF2B5EF4-FFF2-40B4-BE49-F238E27FC236}">
                <a16:creationId xmlns:a16="http://schemas.microsoft.com/office/drawing/2014/main" id="{27CD1DFD-F549-5E3E-6524-0DA23C176E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7CC8DAD-B5F1-6D95-DA35-714131BBCEC8}"/>
              </a:ext>
            </a:extLst>
          </p:cNvPr>
          <p:cNvSpPr txBox="1"/>
          <p:nvPr/>
        </p:nvSpPr>
        <p:spPr>
          <a:xfrm>
            <a:off x="2148349" y="2938111"/>
            <a:ext cx="8593394" cy="3730317"/>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Import camera/video/image data.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Preprocess frames for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Remove noise and improve image quality.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Detect relevant objects in the frame.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Extract important visual features.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Prepare the data for safety and defect analysis.</a:t>
            </a:r>
          </a:p>
          <a:p>
            <a:pPr marL="342900" lvl="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6172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SE-Computer Science and Engineering">
            <a:extLst>
              <a:ext uri="{FF2B5EF4-FFF2-40B4-BE49-F238E27FC236}">
                <a16:creationId xmlns:a16="http://schemas.microsoft.com/office/drawing/2014/main" id="{1E4C9156-20FA-5954-E43F-CE5724E804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71E91D-A281-8465-FEA3-4ADDA50E6B44}"/>
              </a:ext>
            </a:extLst>
          </p:cNvPr>
          <p:cNvSpPr txBox="1"/>
          <p:nvPr/>
        </p:nvSpPr>
        <p:spPr>
          <a:xfrm>
            <a:off x="324465" y="1494521"/>
            <a:ext cx="11051458" cy="1077218"/>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2: SAFETY VIOLATION </a:t>
            </a:r>
          </a:p>
          <a:p>
            <a:pPr algn="ctr"/>
            <a:r>
              <a:rPr lang="en-IN" sz="3200" b="1" dirty="0">
                <a:latin typeface="Times New Roman" panose="02020603050405020304" pitchFamily="18" charset="0"/>
                <a:cs typeface="Times New Roman" panose="02020603050405020304" pitchFamily="18" charset="0"/>
              </a:rPr>
              <a:t>&amp; DEFECT DETECTION</a:t>
            </a:r>
            <a:endParaRPr lang="en-US"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9C4FA74-80D8-91F6-72F1-6679E24F30F5}"/>
              </a:ext>
            </a:extLst>
          </p:cNvPr>
          <p:cNvSpPr txBox="1"/>
          <p:nvPr/>
        </p:nvSpPr>
        <p:spPr>
          <a:xfrm>
            <a:off x="2113935" y="3033464"/>
            <a:ext cx="8190271" cy="3730317"/>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Detect safety-related violations.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Identify defective or abnormal objects.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Classify detected defects. </a:t>
            </a:r>
          </a:p>
          <a:p>
            <a:pPr marL="342900" lvl="0" indent="-342900">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object conditions from video frames.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Count safety events and detected defects.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detection results for further analysis.</a:t>
            </a:r>
          </a:p>
          <a:p>
            <a:pPr marL="342900" lvl="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1495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SSE-Computer Science and Engineering">
            <a:extLst>
              <a:ext uri="{FF2B5EF4-FFF2-40B4-BE49-F238E27FC236}">
                <a16:creationId xmlns:a16="http://schemas.microsoft.com/office/drawing/2014/main" id="{5AFE61A6-F7D6-3F2C-0FF5-F961945F64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8C36E30-5A13-147E-DC9A-31B400C35250}"/>
              </a:ext>
            </a:extLst>
          </p:cNvPr>
          <p:cNvSpPr txBox="1"/>
          <p:nvPr/>
        </p:nvSpPr>
        <p:spPr>
          <a:xfrm>
            <a:off x="1056967" y="1487194"/>
            <a:ext cx="11031794" cy="1077218"/>
          </a:xfrm>
          <a:prstGeom prst="rect">
            <a:avLst/>
          </a:prstGeom>
          <a:noFill/>
        </p:spPr>
        <p:txBody>
          <a:bodyPr wrap="square">
            <a:spAutoFit/>
          </a:bodyPr>
          <a:lstStyle/>
          <a:p>
            <a:pPr algn="ctr">
              <a:lnSpc>
                <a:spcPct val="100000"/>
              </a:lnSpc>
            </a:pPr>
            <a:r>
              <a:rPr lang="en-IN" sz="3200" b="1" dirty="0">
                <a:latin typeface="Times New Roman" panose="02020603050405020304" pitchFamily="18" charset="0"/>
                <a:cs typeface="Times New Roman" panose="02020603050405020304" pitchFamily="18" charset="0"/>
              </a:rPr>
              <a:t>Module 3: REAL-TIME ANALYTICS</a:t>
            </a:r>
          </a:p>
          <a:p>
            <a:pPr algn="ctr">
              <a:lnSpc>
                <a:spcPct val="100000"/>
              </a:lnSpc>
            </a:pPr>
            <a:r>
              <a:rPr lang="en-IN" sz="3200" b="1" dirty="0">
                <a:latin typeface="Times New Roman" panose="02020603050405020304" pitchFamily="18" charset="0"/>
                <a:cs typeface="Times New Roman" panose="02020603050405020304" pitchFamily="18" charset="0"/>
              </a:rPr>
              <a:t> &amp; VISUALIZATION</a:t>
            </a:r>
          </a:p>
        </p:txBody>
      </p:sp>
      <p:sp>
        <p:nvSpPr>
          <p:cNvPr id="13" name="TextBox 12">
            <a:extLst>
              <a:ext uri="{FF2B5EF4-FFF2-40B4-BE49-F238E27FC236}">
                <a16:creationId xmlns:a16="http://schemas.microsoft.com/office/drawing/2014/main" id="{FEA11602-A425-9D63-D057-38C8CC518BDA}"/>
              </a:ext>
            </a:extLst>
          </p:cNvPr>
          <p:cNvSpPr txBox="1"/>
          <p:nvPr/>
        </p:nvSpPr>
        <p:spPr>
          <a:xfrm>
            <a:off x="2094271" y="2832405"/>
            <a:ext cx="8957187" cy="3268652"/>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Display real-time detection results.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 defect and safety-event counts.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Compare different defect categories. </a:t>
            </a:r>
          </a:p>
          <a:p>
            <a:pPr marL="342900" lvl="0" indent="-342900">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safety trends over time.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charts and dashboard KPIs.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Present alerts and analytics in an easy-to-understand format.</a:t>
            </a:r>
          </a:p>
          <a:p>
            <a:pPr lvl="0">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5786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78FAF4-ED75-A0EC-D145-A159A361D9DD}"/>
              </a:ext>
            </a:extLst>
          </p:cNvPr>
          <p:cNvSpPr txBox="1"/>
          <p:nvPr/>
        </p:nvSpPr>
        <p:spPr>
          <a:xfrm>
            <a:off x="993058" y="1922932"/>
            <a:ext cx="10205883" cy="507472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system provides a </a:t>
            </a:r>
            <a:r>
              <a:rPr lang="en-IN" sz="2000" b="1" dirty="0">
                <a:latin typeface="Times New Roman" panose="02020603050405020304" pitchFamily="18" charset="0"/>
                <a:cs typeface="Times New Roman" panose="02020603050405020304" pitchFamily="18" charset="0"/>
              </a:rPr>
              <a:t>unified platform for real-time safety monitoring and defect analytics</a:t>
            </a:r>
            <a:r>
              <a:rPr lang="en-IN" sz="20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Visual data is </a:t>
            </a:r>
            <a:r>
              <a:rPr lang="en-IN" sz="2000" b="1" dirty="0" err="1">
                <a:latin typeface="Times New Roman" panose="02020603050405020304" pitchFamily="18" charset="0"/>
                <a:cs typeface="Times New Roman" panose="02020603050405020304" pitchFamily="18" charset="0"/>
              </a:rPr>
              <a:t>preprocessed</a:t>
            </a: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analyzed</a:t>
            </a:r>
            <a:r>
              <a:rPr lang="en-IN" sz="2000" b="1" dirty="0">
                <a:latin typeface="Times New Roman" panose="02020603050405020304" pitchFamily="18" charset="0"/>
                <a:cs typeface="Times New Roman" panose="02020603050405020304" pitchFamily="18" charset="0"/>
              </a:rPr>
              <a:t>, and detected</a:t>
            </a:r>
            <a:r>
              <a:rPr lang="en-IN" sz="2000" dirty="0">
                <a:latin typeface="Times New Roman" panose="02020603050405020304" pitchFamily="18" charset="0"/>
                <a:cs typeface="Times New Roman" panose="02020603050405020304" pitchFamily="18" charset="0"/>
              </a:rPr>
              <a:t> to identify safety violations and product defects.</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Safety and defect analysis</a:t>
            </a:r>
            <a:r>
              <a:rPr lang="en-IN" sz="2000" dirty="0">
                <a:latin typeface="Times New Roman" panose="02020603050405020304" pitchFamily="18" charset="0"/>
                <a:cs typeface="Times New Roman" panose="02020603050405020304" pitchFamily="18" charset="0"/>
              </a:rPr>
              <a:t> provides insights into detected issues and their categories.</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Real-time analytics</a:t>
            </a:r>
            <a:r>
              <a:rPr lang="en-IN" sz="2000" dirty="0">
                <a:latin typeface="Times New Roman" panose="02020603050405020304" pitchFamily="18" charset="0"/>
                <a:cs typeface="Times New Roman" panose="02020603050405020304" pitchFamily="18" charset="0"/>
              </a:rPr>
              <a:t> helps monitor safety events and defect trends efficiently.</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Charts, graphs, and dashboards</a:t>
            </a:r>
            <a:r>
              <a:rPr lang="en-IN" sz="2000" dirty="0">
                <a:latin typeface="Times New Roman" panose="02020603050405020304" pitchFamily="18" charset="0"/>
                <a:cs typeface="Times New Roman" panose="02020603050405020304" pitchFamily="18" charset="0"/>
              </a:rPr>
              <a:t> make complex detection results easier to understand and compare.</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Overall, the system supports </a:t>
            </a:r>
            <a:r>
              <a:rPr lang="en-IN" sz="2000" b="1" dirty="0">
                <a:latin typeface="Times New Roman" panose="02020603050405020304" pitchFamily="18" charset="0"/>
                <a:cs typeface="Times New Roman" panose="02020603050405020304" pitchFamily="18" charset="0"/>
              </a:rPr>
              <a:t>faster monitoring, reduced manual effort, and data-driven decision-making</a:t>
            </a:r>
            <a:r>
              <a:rPr lang="en-IN" sz="2000" dirty="0">
                <a:latin typeface="Times New Roman" panose="02020603050405020304" pitchFamily="18" charset="0"/>
                <a:cs typeface="Times New Roman" panose="02020603050405020304" pitchFamily="18" charset="0"/>
              </a:rPr>
              <a:t>.</a:t>
            </a:r>
          </a:p>
          <a:p>
            <a:pPr marL="342900" lvl="0" indent="-34290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5" name="Picture 4" descr="SSE-Computer Science and Engineering">
            <a:extLst>
              <a:ext uri="{FF2B5EF4-FFF2-40B4-BE49-F238E27FC236}">
                <a16:creationId xmlns:a16="http://schemas.microsoft.com/office/drawing/2014/main" id="{1239C11E-531B-6F38-4CD3-8B48FC07E3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42158B2-73FE-729F-EC82-F183816FEFF3}"/>
              </a:ext>
            </a:extLst>
          </p:cNvPr>
          <p:cNvSpPr txBox="1"/>
          <p:nvPr/>
        </p:nvSpPr>
        <p:spPr>
          <a:xfrm>
            <a:off x="4414683" y="1332625"/>
            <a:ext cx="3834581" cy="584775"/>
          </a:xfrm>
          <a:prstGeom prst="rect">
            <a:avLst/>
          </a:prstGeom>
          <a:noFill/>
        </p:spPr>
        <p:txBody>
          <a:bodyPr wrap="square">
            <a:spAutoFit/>
          </a:bodyPr>
          <a:lstStyle/>
          <a:p>
            <a:r>
              <a:rPr lang="en-US" sz="3200" b="1" dirty="0">
                <a:solidFill>
                  <a:srgbClr val="C00000"/>
                </a:solidFill>
                <a:latin typeface="Times New Roman" panose="02020603050405020304" pitchFamily="18" charset="0"/>
                <a:cs typeface="Times New Roman" panose="02020603050405020304" pitchFamily="18" charset="0"/>
              </a:rPr>
              <a:t>CONCLUSION</a:t>
            </a:r>
            <a:endParaRPr lang="en-US" dirty="0"/>
          </a:p>
        </p:txBody>
      </p:sp>
    </p:spTree>
    <p:extLst>
      <p:ext uri="{BB962C8B-B14F-4D97-AF65-F5344CB8AC3E}">
        <p14:creationId xmlns:p14="http://schemas.microsoft.com/office/powerpoint/2010/main" val="1479441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FAE23B-C6AC-2C44-C2D6-ED7511B3EBA7}"/>
              </a:ext>
            </a:extLst>
          </p:cNvPr>
          <p:cNvSpPr txBox="1"/>
          <p:nvPr/>
        </p:nvSpPr>
        <p:spPr>
          <a:xfrm>
            <a:off x="919315" y="2349938"/>
            <a:ext cx="10353368" cy="465364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OpenCV Documentation</a:t>
            </a:r>
            <a:r>
              <a:rPr lang="en-IN" sz="2000"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Computer Vision and Image Processing</a:t>
            </a:r>
            <a:r>
              <a:rPr lang="en-IN" sz="20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Python OpenCV</a:t>
            </a:r>
            <a:r>
              <a:rPr lang="en-IN" sz="2000"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Image and Video Processing</a:t>
            </a:r>
            <a:r>
              <a:rPr lang="en-IN" sz="2000" dirty="0">
                <a:latin typeface="Times New Roman" panose="02020603050405020304" pitchFamily="18" charset="0"/>
                <a:cs typeface="Times New Roman" panose="02020603050405020304" pitchFamily="18" charset="0"/>
              </a:rPr>
              <a:t> – Used for preprocessing and object detection.</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Kaggle</a:t>
            </a:r>
            <a:r>
              <a:rPr lang="en-IN" sz="2000"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Computer Vision and Defect Detection Datasets</a:t>
            </a:r>
            <a:r>
              <a:rPr lang="en-IN" sz="2000" dirty="0">
                <a:latin typeface="Times New Roman" panose="02020603050405020304" pitchFamily="18" charset="0"/>
                <a:cs typeface="Times New Roman" panose="02020603050405020304" pitchFamily="18" charset="0"/>
              </a:rPr>
              <a:t> – Used for visual data analysis and model development.</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YOLO Documentation</a:t>
            </a:r>
            <a:r>
              <a:rPr lang="en-IN" sz="2000"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Real-Time Object Detection</a:t>
            </a:r>
            <a:r>
              <a:rPr lang="en-IN" sz="2000" dirty="0">
                <a:latin typeface="Times New Roman" panose="02020603050405020304" pitchFamily="18" charset="0"/>
                <a:cs typeface="Times New Roman" panose="02020603050405020304" pitchFamily="18" charset="0"/>
              </a:rPr>
              <a:t> – Used for object detection and safety monitoring.</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Python Pandas &amp; Matplotlib Documentation</a:t>
            </a:r>
            <a:r>
              <a:rPr lang="en-IN" sz="2000" dirty="0">
                <a:latin typeface="Times New Roman" panose="02020603050405020304" pitchFamily="18" charset="0"/>
                <a:cs typeface="Times New Roman" panose="02020603050405020304" pitchFamily="18" charset="0"/>
              </a:rPr>
              <a:t> – Used for data analysis and visualization.</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Computer Vision Research</a:t>
            </a:r>
            <a:r>
              <a:rPr lang="en-IN" sz="2000" dirty="0">
                <a:latin typeface="Times New Roman" panose="02020603050405020304" pitchFamily="18" charset="0"/>
                <a:cs typeface="Times New Roman" panose="02020603050405020304" pitchFamily="18" charset="0"/>
              </a:rPr>
              <a:t> – Studies on real-time safety monitoring and automated defect detection.</a:t>
            </a:r>
          </a:p>
          <a:p>
            <a:pPr marL="342900" lvl="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5" name="Picture 4" descr="SSE-Computer Science and Engineering">
            <a:extLst>
              <a:ext uri="{FF2B5EF4-FFF2-40B4-BE49-F238E27FC236}">
                <a16:creationId xmlns:a16="http://schemas.microsoft.com/office/drawing/2014/main" id="{441C3A29-95D6-D4EC-B1C2-262623FBAC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109571"/>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F0B4F2D-3C6D-510F-6E0C-3F150CA109BA}"/>
              </a:ext>
            </a:extLst>
          </p:cNvPr>
          <p:cNvSpPr txBox="1"/>
          <p:nvPr/>
        </p:nvSpPr>
        <p:spPr>
          <a:xfrm>
            <a:off x="4468761" y="1418426"/>
            <a:ext cx="3254477" cy="584775"/>
          </a:xfrm>
          <a:prstGeom prst="rect">
            <a:avLst/>
          </a:prstGeom>
          <a:noFill/>
        </p:spPr>
        <p:txBody>
          <a:bodyPr wrap="square">
            <a:spAutoFit/>
          </a:bodyPr>
          <a:lstStyle/>
          <a:p>
            <a:r>
              <a:rPr lang="en-US" sz="3200" b="1" dirty="0">
                <a:solidFill>
                  <a:srgbClr val="C00000"/>
                </a:solidFill>
                <a:latin typeface="Times New Roman" panose="02020603050405020304" pitchFamily="18" charset="0"/>
                <a:cs typeface="Times New Roman" panose="02020603050405020304" pitchFamily="18" charset="0"/>
              </a:rPr>
              <a:t>REFERENCES</a:t>
            </a:r>
            <a:endParaRPr lang="en-US" dirty="0"/>
          </a:p>
        </p:txBody>
      </p:sp>
    </p:spTree>
    <p:extLst>
      <p:ext uri="{BB962C8B-B14F-4D97-AF65-F5344CB8AC3E}">
        <p14:creationId xmlns:p14="http://schemas.microsoft.com/office/powerpoint/2010/main" val="1601812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780</Words>
  <Application>Microsoft Office PowerPoint</Application>
  <PresentationFormat>Widescreen</PresentationFormat>
  <Paragraphs>103</Paragraphs>
  <Slides>13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PowerPoint Presentation</vt:lpstr>
      <vt:lpstr>ABSTRACT</vt:lpstr>
      <vt:lpstr>INTRODUCTION</vt:lpstr>
      <vt:lpstr>PROBLEM STATEMENT</vt:lpstr>
      <vt:lpstr>EXSISTING VS PROPOSED SYSTEM</vt:lpstr>
      <vt:lpstr>LITERATURE REVIEW</vt:lpstr>
      <vt:lpstr>PowerPoint Presentation</vt:lpstr>
      <vt:lpstr>MODULES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Yugitha B</dc:creator>
  <cp:lastModifiedBy>Rakina S</cp:lastModifiedBy>
  <cp:revision>6</cp:revision>
  <dcterms:created xsi:type="dcterms:W3CDTF">2026-07-27T14:58:39Z</dcterms:created>
  <dcterms:modified xsi:type="dcterms:W3CDTF">2026-08-29T05:24:11Z</dcterms:modified>
</cp:coreProperties>
</file>